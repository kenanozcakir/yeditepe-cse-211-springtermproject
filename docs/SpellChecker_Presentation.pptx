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KenanOzcakir/Yeditepe-CSE-211-SpringTermProject/tree/main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626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2011680"/>
            <a:ext cx="5852160" cy="5852160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2743200"/>
            <a:ext cx="4572000" cy="4572000"/>
          </a:xfrm>
          <a:prstGeom prst="ellipse">
            <a:avLst/>
          </a:prstGeom>
          <a:solidFill>
            <a:srgbClr val="15294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41248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1C325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412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D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TERM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Spell Checker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pPr indent="0" marL="0">
              <a:buNone/>
            </a:pPr>
            <a:r>
              <a:rPr lang="en-US" sz="5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Corrector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640080" y="34564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Trie-based dictionary with Levenshtein fuzzy search, ranked suggestions and a Qt6 interface.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1078992" cy="457200"/>
          </a:xfrm>
          <a:prstGeom prst="roundRect">
            <a:avLst>
              <a:gd name="adj" fmla="val 20000"/>
            </a:avLst>
          </a:prstGeom>
          <a:solidFill>
            <a:srgbClr val="152941"/>
          </a:solidFill>
          <a:ln w="12700">
            <a:solidFill>
              <a:srgbClr val="3A23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26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helo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4636008"/>
            <a:ext cx="237744" cy="2377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231136" y="4526280"/>
            <a:ext cx="1078992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2231136" y="4526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47872" y="4526280"/>
            <a:ext cx="1078992" cy="457200"/>
          </a:xfrm>
          <a:prstGeom prst="roundRect">
            <a:avLst>
              <a:gd name="adj" fmla="val 20000"/>
            </a:avLst>
          </a:prstGeom>
          <a:solidFill>
            <a:srgbClr val="152941"/>
          </a:solidFill>
          <a:ln w="12700">
            <a:solidFill>
              <a:srgbClr val="3A23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47872" y="4526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wrold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636008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38928" y="4526280"/>
            <a:ext cx="1078992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9" name="Text 15"/>
          <p:cNvSpPr/>
          <p:nvPr/>
        </p:nvSpPr>
        <p:spPr>
          <a:xfrm>
            <a:off x="5138928" y="4526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732520" y="15544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732520" y="179222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211 — Data Structures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732520" y="22677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8732520" y="250545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PROJ-25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732520" y="298094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732520" y="321868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Spring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8732520" y="3712464"/>
            <a:ext cx="2788920" cy="0"/>
          </a:xfrm>
          <a:prstGeom prst="line">
            <a:avLst/>
          </a:prstGeom>
          <a:noFill/>
          <a:ln w="12700">
            <a:solidFill>
              <a:srgbClr val="24405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732520" y="38404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732520" y="41148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Ayberk Şensöz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Kerem Köse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Emirhan Demir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Kenan Özçakır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CSE211-PROJ25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27632"/>
            <a:ext cx="5340096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18653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545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0253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99616" y="1828800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914400" y="2542032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misspelled words in text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corrections via edit distance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large dictionaries efficiently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6263640" y="1627632"/>
            <a:ext cx="5340096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01384" y="18653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00253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23176" y="1828800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537960" y="2542032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structures: Trie &amp; LinkedList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 for word similarity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distance + frequency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visual GUI with autocomplete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5340096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77824" y="43525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489704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99616" y="4315968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 Trie lookup · bounded fuzzy search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Frequency-based ranking of results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suggestions + CLI batch fallback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with 10K synthetic words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6263640" y="4114800"/>
            <a:ext cx="5340096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01384" y="43525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489704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23176" y="4315968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6537960" y="5029200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· custom Trie &amp; LinkedList (no STL)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(Levenshtein)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+ CMake · Qt6 GUI · CLI</a:t>
            </a:r>
            <a:endParaRPr lang="en-US" sz="118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8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documentation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SYSTEM ARCHITECTURE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874520"/>
            <a:ext cx="1938528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11" name="Shape 8"/>
          <p:cNvSpPr/>
          <p:nvPr/>
        </p:nvSpPr>
        <p:spPr>
          <a:xfrm>
            <a:off x="1289304" y="21671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324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3591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28986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Parser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31520" y="32095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dictionary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words to check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755" y="2670048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882646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82646" y="1874520"/>
            <a:ext cx="1938528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18" name="Shape 13"/>
          <p:cNvSpPr/>
          <p:nvPr/>
        </p:nvSpPr>
        <p:spPr>
          <a:xfrm>
            <a:off x="3531870" y="21671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3243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894" y="23591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974086" y="28986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Trie (Custom)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2974086" y="32095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store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 lookup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21" y="2670048"/>
            <a:ext cx="237744" cy="23774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125212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125212" y="1874520"/>
            <a:ext cx="1938528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25" name="Shape 18"/>
          <p:cNvSpPr/>
          <p:nvPr/>
        </p:nvSpPr>
        <p:spPr>
          <a:xfrm>
            <a:off x="5774436" y="21671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3243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460" y="2359152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16652" y="28986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SpellChecker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216652" y="32095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+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887" y="2670048"/>
            <a:ext cx="237744" cy="23774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7367778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367778" y="1874520"/>
            <a:ext cx="1938528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2" name="Shape 23"/>
          <p:cNvSpPr/>
          <p:nvPr/>
        </p:nvSpPr>
        <p:spPr>
          <a:xfrm>
            <a:off x="8017002" y="21671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3243B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9026" y="2359152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59218" y="28986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EditDistance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7459218" y="32095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9453" y="2670048"/>
            <a:ext cx="237744" cy="237744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9610344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9610344" y="1874520"/>
            <a:ext cx="1938528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Shape 28"/>
          <p:cNvSpPr/>
          <p:nvPr/>
        </p:nvSpPr>
        <p:spPr>
          <a:xfrm>
            <a:off x="10259568" y="21671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1592" y="2359152"/>
            <a:ext cx="256032" cy="25603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701784" y="289864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 / CLI</a:t>
            </a:r>
            <a:endParaRPr lang="en-US" sz="1350" dirty="0"/>
          </a:p>
        </p:txBody>
      </p:sp>
      <p:sp>
        <p:nvSpPr>
          <p:cNvPr id="42" name="Text 30"/>
          <p:cNvSpPr/>
          <p:nvPr/>
        </p:nvSpPr>
        <p:spPr>
          <a:xfrm>
            <a:off x="9701784" y="320954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UI +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ORGANIZATION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640080" y="4526280"/>
            <a:ext cx="2075688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841248" y="47457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435" y="4871923"/>
            <a:ext cx="168250" cy="16825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1353312" y="47091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841248" y="5276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· LinkedList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2848356" y="4526280"/>
            <a:ext cx="2075688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3049524" y="47457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5711" y="4871923"/>
            <a:ext cx="168250" cy="16825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3561588" y="47091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Layer</a:t>
            </a:r>
            <a:endParaRPr lang="en-US" sz="1200" dirty="0"/>
          </a:p>
        </p:txBody>
      </p:sp>
      <p:sp>
        <p:nvSpPr>
          <p:cNvPr id="53" name="Text 39"/>
          <p:cNvSpPr/>
          <p:nvPr/>
        </p:nvSpPr>
        <p:spPr>
          <a:xfrm>
            <a:off x="3049524" y="5276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EditDistance · fuzzy search</a:t>
            </a:r>
            <a:endParaRPr lang="en-US" sz="1050" dirty="0"/>
          </a:p>
        </p:txBody>
      </p:sp>
      <p:sp>
        <p:nvSpPr>
          <p:cNvPr id="54" name="Shape 40"/>
          <p:cNvSpPr/>
          <p:nvPr/>
        </p:nvSpPr>
        <p:spPr>
          <a:xfrm>
            <a:off x="5056632" y="4526280"/>
            <a:ext cx="2075688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55" name="Shape 41"/>
          <p:cNvSpPr/>
          <p:nvPr/>
        </p:nvSpPr>
        <p:spPr>
          <a:xfrm>
            <a:off x="5257800" y="47457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3987" y="4871923"/>
            <a:ext cx="168250" cy="16825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5769864" y="47091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58" name="Text 43"/>
          <p:cNvSpPr/>
          <p:nvPr/>
        </p:nvSpPr>
        <p:spPr>
          <a:xfrm>
            <a:off x="5257800" y="5276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SpellChecker (integration)</a:t>
            </a:r>
            <a:endParaRPr lang="en-US" sz="1050" dirty="0"/>
          </a:p>
        </p:txBody>
      </p:sp>
      <p:sp>
        <p:nvSpPr>
          <p:cNvPr id="59" name="Shape 44"/>
          <p:cNvSpPr/>
          <p:nvPr/>
        </p:nvSpPr>
        <p:spPr>
          <a:xfrm>
            <a:off x="7264908" y="4526280"/>
            <a:ext cx="2075688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60" name="Shape 45"/>
          <p:cNvSpPr/>
          <p:nvPr/>
        </p:nvSpPr>
        <p:spPr>
          <a:xfrm>
            <a:off x="7466076" y="47457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2263" y="4871923"/>
            <a:ext cx="168250" cy="168250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7978140" y="47091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200" dirty="0"/>
          </a:p>
        </p:txBody>
      </p:sp>
      <p:sp>
        <p:nvSpPr>
          <p:cNvPr id="63" name="Text 47"/>
          <p:cNvSpPr/>
          <p:nvPr/>
        </p:nvSpPr>
        <p:spPr>
          <a:xfrm>
            <a:off x="7466076" y="5276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GUI + CLI fallback</a:t>
            </a:r>
            <a:endParaRPr lang="en-US" sz="1050" dirty="0"/>
          </a:p>
        </p:txBody>
      </p:sp>
      <p:sp>
        <p:nvSpPr>
          <p:cNvPr id="64" name="Shape 48"/>
          <p:cNvSpPr/>
          <p:nvPr/>
        </p:nvSpPr>
        <p:spPr>
          <a:xfrm>
            <a:off x="9473184" y="4526280"/>
            <a:ext cx="2075688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65" name="Shape 49"/>
          <p:cNvSpPr/>
          <p:nvPr/>
        </p:nvSpPr>
        <p:spPr>
          <a:xfrm>
            <a:off x="9674352" y="47457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00539" y="4871923"/>
            <a:ext cx="168250" cy="168250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10186416" y="47091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Layer</a:t>
            </a:r>
            <a:endParaRPr lang="en-US" sz="1200" dirty="0"/>
          </a:p>
        </p:txBody>
      </p:sp>
      <p:sp>
        <p:nvSpPr>
          <p:cNvPr id="68" name="Text 51"/>
          <p:cNvSpPr/>
          <p:nvPr/>
        </p:nvSpPr>
        <p:spPr>
          <a:xfrm>
            <a:off x="9674352" y="5276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(file handling)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SYSTEM ARCHITECTURE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45920"/>
            <a:ext cx="6903720" cy="4572000"/>
          </a:xfrm>
          <a:prstGeom prst="roundRect">
            <a:avLst>
              <a:gd name="adj" fmla="val 1200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1847088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84708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Shape 9"/>
          <p:cNvSpPr/>
          <p:nvPr/>
        </p:nvSpPr>
        <p:spPr>
          <a:xfrm>
            <a:off x="1316736" y="184708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600200" y="173736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 tree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32688" y="2121408"/>
            <a:ext cx="6355080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CSE211-PROJ25/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data_structures, core, utils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implementation files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data_structures/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Trie, LinkedList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SpellChecker, EditDistance, Types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Parser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Qt6 graphical interface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tui.cpp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CLI fallback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unit · integration · edge cases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5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JSON dictionaries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18120" y="1645920"/>
            <a:ext cx="3730752" cy="4572000"/>
          </a:xfrm>
          <a:prstGeom prst="roundRect">
            <a:avLst>
              <a:gd name="adj" fmla="val 2206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110728" y="18745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LAYER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10728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242316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14232" y="226771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separation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714232" y="253288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data_structures / core / utils kept isolated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110728" y="3072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209544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14232" y="30540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STL containers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714232" y="331927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pointer-based structures by requirement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110728" y="3858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3995928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714232" y="384048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frontends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714232" y="4105656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Qt6 GUI and a CLI fallback share one core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110728" y="4645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478231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714232" y="462686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tests/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714232" y="489204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edge-case suites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110728" y="54315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5568696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714232" y="5413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8714232" y="567842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comments + clang-format style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SYSTEM ARCHITECTURE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45920"/>
            <a:ext cx="5852160" cy="4297680"/>
          </a:xfrm>
          <a:prstGeom prst="roundRect">
            <a:avLst>
              <a:gd name="adj" fmla="val 1915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0976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FILE TO SUGGESTION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50976" y="2267712"/>
            <a:ext cx="523036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39572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67" y="2521915"/>
            <a:ext cx="168250" cy="168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64208" y="23591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File (JSON)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64208" y="26334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+ words to check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307592" y="2880360"/>
            <a:ext cx="0" cy="685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950976" y="2976372"/>
            <a:ext cx="523036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97280" y="310438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67" y="3230575"/>
            <a:ext cx="168250" cy="1682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306781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664208" y="33421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array · Trie.insert()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307592" y="3589020"/>
            <a:ext cx="0" cy="685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50976" y="3685032"/>
            <a:ext cx="523036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97280" y="38130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467" y="3939235"/>
            <a:ext cx="168250" cy="1682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64208" y="37764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SpellChecker.suggest()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664208" y="405079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fuzzy search invoked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307592" y="4297680"/>
            <a:ext cx="0" cy="685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50976" y="4393692"/>
            <a:ext cx="523036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97280" y="45217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3243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467" y="4647895"/>
            <a:ext cx="168250" cy="1682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64208" y="44851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EditDistance.computeBounded()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664208" y="47594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with early termination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1307592" y="5006340"/>
            <a:ext cx="0" cy="685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950976" y="5102352"/>
            <a:ext cx="523036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97280" y="52303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4B8A6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467" y="5356555"/>
            <a:ext cx="168250" cy="16825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64208" y="51937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SuggestionBuffer (ranked)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664208" y="54681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Top-k, then Frontend display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903720" y="169164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INTERACTIONS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903720" y="2148840"/>
            <a:ext cx="46451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141464" y="2395728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43" name="Text 35"/>
          <p:cNvSpPr/>
          <p:nvPr/>
        </p:nvSpPr>
        <p:spPr>
          <a:xfrm>
            <a:off x="7141464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44" name="Text 36"/>
          <p:cNvSpPr/>
          <p:nvPr/>
        </p:nvSpPr>
        <p:spPr>
          <a:xfrm>
            <a:off x="7744968" y="229514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7744968" y="26060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reads JSON → Trie stores the dictionary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903720" y="3154680"/>
            <a:ext cx="46451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7141464" y="3401568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48" name="Text 40"/>
          <p:cNvSpPr/>
          <p:nvPr/>
        </p:nvSpPr>
        <p:spPr>
          <a:xfrm>
            <a:off x="7141464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49" name="Text 41"/>
          <p:cNvSpPr/>
          <p:nvPr/>
        </p:nvSpPr>
        <p:spPr>
          <a:xfrm>
            <a:off x="7744968" y="330098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</a:t>
            </a:r>
            <a:endParaRPr lang="en-US" sz="1450" dirty="0"/>
          </a:p>
        </p:txBody>
      </p:sp>
      <p:sp>
        <p:nvSpPr>
          <p:cNvPr id="50" name="Text 42"/>
          <p:cNvSpPr/>
          <p:nvPr/>
        </p:nvSpPr>
        <p:spPr>
          <a:xfrm>
            <a:off x="7744968" y="361188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→ SpellChecker queries the Trie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903720" y="4160520"/>
            <a:ext cx="46451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7141464" y="4407408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53" name="Text 45"/>
          <p:cNvSpPr/>
          <p:nvPr/>
        </p:nvSpPr>
        <p:spPr>
          <a:xfrm>
            <a:off x="7141464" y="4407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46"/>
          <p:cNvSpPr/>
          <p:nvPr/>
        </p:nvSpPr>
        <p:spPr>
          <a:xfrm>
            <a:off x="7744968" y="430682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</a:t>
            </a:r>
            <a:endParaRPr lang="en-US" sz="1450" dirty="0"/>
          </a:p>
        </p:txBody>
      </p:sp>
      <p:sp>
        <p:nvSpPr>
          <p:cNvPr id="55" name="Text 47"/>
          <p:cNvSpPr/>
          <p:nvPr/>
        </p:nvSpPr>
        <p:spPr>
          <a:xfrm>
            <a:off x="7744968" y="461772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 → edit distance → ranking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6903720" y="5166360"/>
            <a:ext cx="464515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7141464" y="5413248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58" name="Text 50"/>
          <p:cNvSpPr/>
          <p:nvPr/>
        </p:nvSpPr>
        <p:spPr>
          <a:xfrm>
            <a:off x="7141464" y="5413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59" name="Text 51"/>
          <p:cNvSpPr/>
          <p:nvPr/>
        </p:nvSpPr>
        <p:spPr>
          <a:xfrm>
            <a:off x="7744968" y="5312664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</a:t>
            </a:r>
            <a:endParaRPr lang="en-US" sz="1450" dirty="0"/>
          </a:p>
        </p:txBody>
      </p:sp>
      <p:sp>
        <p:nvSpPr>
          <p:cNvPr id="60" name="Text 52"/>
          <p:cNvSpPr/>
          <p:nvPr/>
        </p:nvSpPr>
        <p:spPr>
          <a:xfrm>
            <a:off x="7744968" y="56235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SuggestionBuffer → GUI / CLI output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STRUCTURES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Trie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TRIE?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 lookup, k = word length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prefix matching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fuzzy search with edit distance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for large dictionaries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657600"/>
            <a:ext cx="3931920" cy="2560320"/>
          </a:xfrm>
          <a:prstGeom prst="roundRect">
            <a:avLst>
              <a:gd name="adj" fmla="val 2143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77824" y="3858768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3" name="Shape 10"/>
          <p:cNvSpPr/>
          <p:nvPr/>
        </p:nvSpPr>
        <p:spPr>
          <a:xfrm>
            <a:off x="1097280" y="385876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Shape 11"/>
          <p:cNvSpPr/>
          <p:nvPr/>
        </p:nvSpPr>
        <p:spPr>
          <a:xfrm>
            <a:off x="1316736" y="385876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1600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TrieNode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32688" y="4133088"/>
            <a:ext cx="33832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TrieNode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isWord;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frequency;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LinkedList&lt;ChildEntry&gt;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children;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sorted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ChildEntry: { char ch; TrieNode* }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937760" y="1645920"/>
            <a:ext cx="6611112" cy="301752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30368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SHARING — “cat”, “car”, “can”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3154680"/>
            <a:ext cx="1143000" cy="0"/>
          </a:xfrm>
          <a:prstGeom prst="line">
            <a:avLst/>
          </a:prstGeom>
          <a:noFill/>
          <a:ln w="19050">
            <a:solidFill>
              <a:srgbClr val="B9C6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0" y="3154680"/>
            <a:ext cx="1143000" cy="0"/>
          </a:xfrm>
          <a:prstGeom prst="line">
            <a:avLst/>
          </a:prstGeom>
          <a:noFill/>
          <a:ln w="19050">
            <a:solidFill>
              <a:srgbClr val="B9C6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51576" y="291693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43B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51576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894576" y="291693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43B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94576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37576" y="291693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43B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037576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75320" y="3154680"/>
            <a:ext cx="1280160" cy="-457200"/>
          </a:xfrm>
          <a:prstGeom prst="line">
            <a:avLst/>
          </a:prstGeom>
          <a:noFill/>
          <a:ln w="19050">
            <a:solidFill>
              <a:srgbClr val="B9C6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17736" y="2459736"/>
            <a:ext cx="475488" cy="47548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317736" y="2459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921240" y="25328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75320" y="3154680"/>
            <a:ext cx="1280160" cy="0"/>
          </a:xfrm>
          <a:prstGeom prst="line">
            <a:avLst/>
          </a:prstGeom>
          <a:noFill/>
          <a:ln w="19050">
            <a:solidFill>
              <a:srgbClr val="B9C6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317736" y="2916936"/>
            <a:ext cx="475488" cy="47548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317736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921240" y="2990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275320" y="3154680"/>
            <a:ext cx="1280160" cy="457200"/>
          </a:xfrm>
          <a:prstGeom prst="line">
            <a:avLst/>
          </a:prstGeom>
          <a:noFill/>
          <a:ln w="19050">
            <a:solidFill>
              <a:srgbClr val="B9C6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317736" y="3374136"/>
            <a:ext cx="475488" cy="475488"/>
          </a:xfrm>
          <a:prstGeom prst="ellipse">
            <a:avLst/>
          </a:prstGeom>
          <a:solidFill>
            <a:srgbClr val="14B8A6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317736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921240" y="34472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248656" y="4261104"/>
            <a:ext cx="201168" cy="201168"/>
          </a:xfrm>
          <a:prstGeom prst="ellipse">
            <a:avLst/>
          </a:prstGeom>
          <a:solidFill>
            <a:srgbClr val="14B8A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04688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end of word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406640" y="42062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prefix “ca” stored once · sorted children → early exit in getChild()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937760" y="4892040"/>
            <a:ext cx="21122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120640" y="5038344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120640" y="525780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O(k)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5120640" y="566013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insertion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187184" y="4892040"/>
            <a:ext cx="21122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7370064" y="5038344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7370064" y="525780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O(k)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7370064" y="566013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9436608" y="4892040"/>
            <a:ext cx="2112264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619488" y="5038344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619488" y="525780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O(Σ × N × k)</a:t>
            </a:r>
            <a:endParaRPr lang="en-US" sz="1700" dirty="0"/>
          </a:p>
        </p:txBody>
      </p:sp>
      <p:sp>
        <p:nvSpPr>
          <p:cNvPr id="53" name="Text 50"/>
          <p:cNvSpPr/>
          <p:nvPr/>
        </p:nvSpPr>
        <p:spPr>
          <a:xfrm>
            <a:off x="9619488" y="566013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STRUCTURES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Singly Linked List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LINKED LIST?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 — no pre-allocation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Pointer-based (course requirement)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 for sparse children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STL containers (custom requirement)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children of each Trie node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dynamic child management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predicate-based search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937760" y="1645920"/>
            <a:ext cx="6611112" cy="18288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30368" y="182880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POINTER-BASED NODE CHAIN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49240" y="2331720"/>
            <a:ext cx="878738" cy="7132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16" name="Shape 13"/>
          <p:cNvSpPr/>
          <p:nvPr/>
        </p:nvSpPr>
        <p:spPr>
          <a:xfrm>
            <a:off x="6227978" y="2331720"/>
            <a:ext cx="538582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5349240" y="2331720"/>
            <a:ext cx="8787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27978" y="2331720"/>
            <a:ext cx="5385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12280" y="2688336"/>
            <a:ext cx="475488" cy="0"/>
          </a:xfrm>
          <a:prstGeom prst="line">
            <a:avLst/>
          </a:prstGeom>
          <a:noFill/>
          <a:ln w="31750">
            <a:solidFill>
              <a:srgbClr val="13243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333488" y="2331720"/>
            <a:ext cx="878738" cy="7132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21" name="Shape 18"/>
          <p:cNvSpPr/>
          <p:nvPr/>
        </p:nvSpPr>
        <p:spPr>
          <a:xfrm>
            <a:off x="8212226" y="2331720"/>
            <a:ext cx="538582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7333488" y="2331720"/>
            <a:ext cx="8787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12226" y="2331720"/>
            <a:ext cx="5385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96528" y="2688336"/>
            <a:ext cx="475488" cy="0"/>
          </a:xfrm>
          <a:prstGeom prst="line">
            <a:avLst/>
          </a:prstGeom>
          <a:noFill/>
          <a:ln w="31750">
            <a:solidFill>
              <a:srgbClr val="13243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317736" y="2331720"/>
            <a:ext cx="878738" cy="7132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26" name="Shape 23"/>
          <p:cNvSpPr/>
          <p:nvPr/>
        </p:nvSpPr>
        <p:spPr>
          <a:xfrm>
            <a:off x="10196474" y="2331720"/>
            <a:ext cx="538582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4"/>
          <p:cNvSpPr/>
          <p:nvPr/>
        </p:nvSpPr>
        <p:spPr>
          <a:xfrm>
            <a:off x="9317736" y="2331720"/>
            <a:ext cx="8787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196474" y="2331720"/>
            <a:ext cx="5385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844784" y="23317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37760" y="3657600"/>
            <a:ext cx="6611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937760" y="4023360"/>
            <a:ext cx="20817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937760" y="4023360"/>
            <a:ext cx="2081784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0"/>
          <p:cNvSpPr/>
          <p:nvPr/>
        </p:nvSpPr>
        <p:spPr>
          <a:xfrm>
            <a:off x="5138928" y="4261104"/>
            <a:ext cx="1716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38928" y="4626864"/>
            <a:ext cx="1716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5138928" y="5047488"/>
            <a:ext cx="1716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node to the end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202424" y="4023360"/>
            <a:ext cx="20817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202424" y="4023360"/>
            <a:ext cx="2081784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Text 35"/>
          <p:cNvSpPr/>
          <p:nvPr/>
        </p:nvSpPr>
        <p:spPr>
          <a:xfrm>
            <a:off x="7403592" y="4261104"/>
            <a:ext cx="1716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403592" y="4626864"/>
            <a:ext cx="1716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7403592" y="5047488"/>
            <a:ext cx="1716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with predicate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467088" y="4023360"/>
            <a:ext cx="2081784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467088" y="4023360"/>
            <a:ext cx="2081784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0"/>
          <p:cNvSpPr/>
          <p:nvPr/>
        </p:nvSpPr>
        <p:spPr>
          <a:xfrm>
            <a:off x="9668256" y="4261104"/>
            <a:ext cx="1716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668256" y="4626864"/>
            <a:ext cx="1716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9668256" y="5047488"/>
            <a:ext cx="1716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deallocates every node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ALGORITHMS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Levenshtein Edit Distance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27632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" y="17282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8653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16276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3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number of single-character edits to transform one string into another.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2542032"/>
            <a:ext cx="3529584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77824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02209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277977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54480" y="314553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character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334256" y="2542032"/>
            <a:ext cx="3529584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545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302209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48656" y="277977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Deletion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248656" y="314553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character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028432" y="2542032"/>
            <a:ext cx="3529584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66176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324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052" y="302209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42832" y="277977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Substitution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942832" y="314553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character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0080" y="3913632"/>
            <a:ext cx="6766560" cy="2286000"/>
          </a:xfrm>
          <a:prstGeom prst="roundRect">
            <a:avLst>
              <a:gd name="adj" fmla="val 2400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77824" y="4114800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30" name="Shape 23"/>
          <p:cNvSpPr/>
          <p:nvPr/>
        </p:nvSpPr>
        <p:spPr>
          <a:xfrm>
            <a:off x="1097280" y="4114800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Shape 24"/>
          <p:cNvSpPr/>
          <p:nvPr/>
        </p:nvSpPr>
        <p:spPr>
          <a:xfrm>
            <a:off x="1316736" y="411480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2" name="Text 25"/>
          <p:cNvSpPr/>
          <p:nvPr/>
        </p:nvSpPr>
        <p:spPr>
          <a:xfrm>
            <a:off x="1600200" y="40050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recurrence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32688" y="4389120"/>
            <a:ext cx="62179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dp[i][j] = edit distance of prefixes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(a[i] == b[j])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dp[i-1][j-1];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1 + min(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dp[i-1][j],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dp[i][j-1],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dp[i-1][j-1]);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substitute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7726680" y="391363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726680" y="4224528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termination when dist &gt; maxDist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Row-min pruning for efficiency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Two-row space optimization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7726680" y="5440680"/>
            <a:ext cx="1872874" cy="777240"/>
          </a:xfrm>
          <a:prstGeom prst="roundRect">
            <a:avLst>
              <a:gd name="adj" fmla="val 10588"/>
            </a:avLst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7726680" y="5550408"/>
            <a:ext cx="18728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D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726680" y="5751576"/>
            <a:ext cx="18728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O(m×n)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9675998" y="5440680"/>
            <a:ext cx="1872874" cy="777240"/>
          </a:xfrm>
          <a:prstGeom prst="roundRect">
            <a:avLst>
              <a:gd name="adj" fmla="val 10588"/>
            </a:avLst>
          </a:prstGeom>
          <a:solidFill>
            <a:srgbClr val="14B8A6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9675998" y="5550408"/>
            <a:ext cx="18728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6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9675998" y="5751576"/>
            <a:ext cx="18728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O(min(m,n))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ALGORITHMS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Trie-Guided Fuzzy Search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27632"/>
            <a:ext cx="10908792" cy="603504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162763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3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dictionary word within edit distance k — without scanning the whole dictionary.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432304"/>
            <a:ext cx="5358384" cy="1783080"/>
          </a:xfrm>
          <a:prstGeom prst="roundRect">
            <a:avLst>
              <a:gd name="adj" fmla="val 4615"/>
            </a:avLst>
          </a:prstGeom>
          <a:solidFill>
            <a:srgbClr val="FFF5F5"/>
          </a:solidFill>
          <a:ln w="12700">
            <a:solidFill>
              <a:srgbClr val="F4C9C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432304"/>
            <a:ext cx="82296" cy="1783080"/>
          </a:xfrm>
          <a:prstGeom prst="rect">
            <a:avLst/>
          </a:prstGeom>
          <a:solidFill>
            <a:srgbClr val="F2545B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26883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545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82549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67004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Approach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508760" y="3017520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word independently.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1508760" y="3456432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4C9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508760" y="34564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m×n)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190488" y="2432304"/>
            <a:ext cx="5358384" cy="1783080"/>
          </a:xfrm>
          <a:prstGeom prst="roundRect">
            <a:avLst>
              <a:gd name="adj" fmla="val 4615"/>
            </a:avLst>
          </a:prstGeom>
          <a:solidFill>
            <a:srgbClr val="F0FBF8"/>
          </a:solidFill>
          <a:ln w="12700">
            <a:solidFill>
              <a:srgbClr val="BFE9DF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90488" y="2432304"/>
            <a:ext cx="82296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Shape 17"/>
          <p:cNvSpPr/>
          <p:nvPr/>
        </p:nvSpPr>
        <p:spPr>
          <a:xfrm>
            <a:off x="6464808" y="26883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825496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59168" y="267004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059168" y="3017520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Trie traversal with DP row tracking.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059168" y="3456432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9D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059168" y="3456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O(α × k × |prefixes|)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40080" y="48006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59536" y="50200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157216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63040" y="50017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row per Trie depth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859536" y="5568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distance row computed at each traversal level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334256" y="48006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53712" y="50200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5157216"/>
            <a:ext cx="182880" cy="1828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57216" y="50017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pruning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4553712" y="5568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subtrees where rowMin &gt; maxDist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8028432" y="48006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247888" y="50200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5157216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851392" y="50017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ranking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247888" y="5568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distance · Secondary: frequency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MODULE IMPLEMENTATION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Logic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45920"/>
            <a:ext cx="5358384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645920"/>
            <a:ext cx="5358384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19385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324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08940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81912" y="1901952"/>
            <a:ext cx="4261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SpellChecker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32688" y="265176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32688" y="2926080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management — add words to Trie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Word-correctness checking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&amp; autocomplete generation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32688" y="397764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32688" y="4251960"/>
            <a:ext cx="4773168" cy="1691640"/>
          </a:xfrm>
          <a:prstGeom prst="roundRect">
            <a:avLst>
              <a:gd name="adj" fmla="val 3243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170432" y="4453128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9" name="Shape 15"/>
          <p:cNvSpPr/>
          <p:nvPr/>
        </p:nvSpPr>
        <p:spPr>
          <a:xfrm>
            <a:off x="1389888" y="44531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Shape 16"/>
          <p:cNvSpPr/>
          <p:nvPr/>
        </p:nvSpPr>
        <p:spPr>
          <a:xfrm>
            <a:off x="1609344" y="445312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7"/>
          <p:cNvSpPr/>
          <p:nvPr/>
        </p:nvSpPr>
        <p:spPr>
          <a:xfrm>
            <a:off x="1892808" y="434340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SpellChecker.h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225296" y="4727448"/>
            <a:ext cx="422452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addWord(string w);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isCorrect(string w);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suggest(string w, int k);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190488" y="1645920"/>
            <a:ext cx="5358384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90488" y="1645920"/>
            <a:ext cx="5358384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Shape 21"/>
          <p:cNvSpPr/>
          <p:nvPr/>
        </p:nvSpPr>
        <p:spPr>
          <a:xfrm>
            <a:off x="6464808" y="19385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89404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32320" y="1901952"/>
            <a:ext cx="4261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SuggestionBuffer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483096" y="2615184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sorted list of top-k suggestions.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483096" y="299923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STRATEGY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483096" y="3273552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3243B"/>
          </a:solidFill>
          <a:ln/>
        </p:spPr>
      </p:sp>
      <p:sp>
        <p:nvSpPr>
          <p:cNvPr id="31" name="Text 26"/>
          <p:cNvSpPr/>
          <p:nvPr/>
        </p:nvSpPr>
        <p:spPr>
          <a:xfrm>
            <a:off x="6483096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Distance ↑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979408" y="3273552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979408" y="32735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Frequency ↓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483096" y="395020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483096" y="4224528"/>
            <a:ext cx="4809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buffer — bounds memory growth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LinkedList&lt;candidate&gt; storage (pointer-based)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insertSorted() keeps order, O(k) insertion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sort: distance first, then frequency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MODULE IMPLEMENTATION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Code — Fuzzy Search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7360920" cy="4526280"/>
          </a:xfrm>
          <a:prstGeom prst="roundRect">
            <a:avLst>
              <a:gd name="adj" fmla="val 1212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1892808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89280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Shape 9"/>
          <p:cNvSpPr/>
          <p:nvPr/>
        </p:nvSpPr>
        <p:spPr>
          <a:xfrm>
            <a:off x="1316736" y="189280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600200" y="178308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fuzzy_search.cpp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32688" y="2167128"/>
            <a:ext cx="6812280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search(TrieNode* n,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string&amp; tgt,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int* prev, int maxDist, string cur)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len = tgt.size();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int* row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int[len + 1];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build current DP row from previous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row[0] = prev[0] + 1;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j = 1; j &lt;= len; ++j)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cost = (tgt[j-1] == n-&gt;ch) ? 0 : 1;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row[j] = min3(prev[j]+1, row[j-1]+1,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prev[j-1] + cost);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(n-&gt;isWord &amp;&amp; row[len] &lt;= maxDist)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buffer.insertSorted(cur, row[len], n-&gt;freq);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PRUNE: stop if no cell can still win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(rowMin(row, len) &lt;= maxDist)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(auto* c : n-&gt;children)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search(c-&gt;node, tgt, row, maxDist, cur+c-&gt;ch);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delete[] row;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75320" y="178308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75320" y="2240280"/>
            <a:ext cx="32735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94776" y="2459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2596896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079992" y="24414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DP row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494776" y="295351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built from the parent node’s row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275320" y="3575304"/>
            <a:ext cx="32735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94776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393192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79992" y="377647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pruning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494776" y="4288536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rowMin gate stops dead branches before recursion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275320" y="4910328"/>
            <a:ext cx="327355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494776" y="51297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36" y="5266944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79992" y="5111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memory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494776" y="5623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new[] is matched by delete[] (no leaks)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FRONTEND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Implementation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45920"/>
            <a:ext cx="5358384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1920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324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2062886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883664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Command-Line Fallback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32688" y="2606040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 — process words from a file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 — type words manually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formatted output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32688" y="3611880"/>
            <a:ext cx="4773168" cy="2331720"/>
          </a:xfrm>
          <a:prstGeom prst="roundRect">
            <a:avLst>
              <a:gd name="adj" fmla="val 2353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70432" y="3813048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16" name="Shape 12"/>
          <p:cNvSpPr/>
          <p:nvPr/>
        </p:nvSpPr>
        <p:spPr>
          <a:xfrm>
            <a:off x="1389888" y="381304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Shape 13"/>
          <p:cNvSpPr/>
          <p:nvPr/>
        </p:nvSpPr>
        <p:spPr>
          <a:xfrm>
            <a:off x="1609344" y="381304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4"/>
          <p:cNvSpPr/>
          <p:nvPr/>
        </p:nvSpPr>
        <p:spPr>
          <a:xfrm>
            <a:off x="1892808" y="370332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./spellcheck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225296" y="4087368"/>
            <a:ext cx="4224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Batch Check ===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 correct.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helo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wrold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thier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their, there, they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teh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-&gt;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they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word: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helo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hello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(dist=1, freq=30000)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90488" y="1645920"/>
            <a:ext cx="5358384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90488" y="1645920"/>
            <a:ext cx="5358384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Shape 18"/>
          <p:cNvSpPr/>
          <p:nvPr/>
        </p:nvSpPr>
        <p:spPr>
          <a:xfrm>
            <a:off x="6464808" y="1920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4B8A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062886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04888" y="1883664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Qt6 Graphical Interface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483096" y="257860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83096" y="2852928"/>
            <a:ext cx="4809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Qt6 interface, real-time checking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Click-to-replace suggestion buttons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display: correct / incorrect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input_large.json when available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83096" y="4434840"/>
            <a:ext cx="4773168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83096" y="4434840"/>
            <a:ext cx="4773168" cy="3108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29" name="Text 24"/>
          <p:cNvSpPr/>
          <p:nvPr/>
        </p:nvSpPr>
        <p:spPr>
          <a:xfrm>
            <a:off x="6647688" y="4434840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Checker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647688" y="4892040"/>
            <a:ext cx="444398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775704" y="489204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helo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647688" y="539496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3" name="Text 28"/>
          <p:cNvSpPr/>
          <p:nvPr/>
        </p:nvSpPr>
        <p:spPr>
          <a:xfrm>
            <a:off x="6647688" y="53949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726680" y="539496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726680" y="53949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805672" y="539496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9EEF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805672" y="53949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0080" y="6245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frontends share the same SpellChecker core — frontend/gui/ and frontend/tui.cpp.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VALIDATION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Validation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19933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 / 147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640080" y="27614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85900" y="32004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48590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· 0 FAILED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skipped · 0 errors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6112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457200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17904" y="439826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Safety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914400" y="507492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leaks — Valgrind verified</a:t>
            </a:r>
            <a:endParaRPr lang="en-US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pointers properly deallocated</a:t>
            </a:r>
            <a:endParaRPr lang="en-US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 principles followed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0" y="1691640"/>
            <a:ext cx="6976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OUTPUT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0" y="2011680"/>
            <a:ext cx="6976872" cy="4206240"/>
          </a:xfrm>
          <a:prstGeom prst="roundRect">
            <a:avLst>
              <a:gd name="adj" fmla="val 1304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809744" y="2212848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23" name="Shape 19"/>
          <p:cNvSpPr/>
          <p:nvPr/>
        </p:nvSpPr>
        <p:spPr>
          <a:xfrm>
            <a:off x="5029200" y="221284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Shape 20"/>
          <p:cNvSpPr/>
          <p:nvPr/>
        </p:nvSpPr>
        <p:spPr>
          <a:xfrm>
            <a:off x="5248656" y="221284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1"/>
          <p:cNvSpPr/>
          <p:nvPr/>
        </p:nvSpPr>
        <p:spPr>
          <a:xfrm>
            <a:off x="5532120" y="2103120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runner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864608" y="2487168"/>
            <a:ext cx="642823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test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PROJECT TEST SUITE ===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[UNIT]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LinkedList ............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15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Trie ..................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20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EditDistance ..........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12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[INTEGRATION]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Workflow ..............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8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I/O ...................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5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[EDGE CASES]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Empty / Single / Limits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16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[PERFORMANCE]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Stress / Memory .......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7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5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SUMMARY: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147/147 passed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0 failed · 0 skipped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REFLECTION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4592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645920"/>
            <a:ext cx="3529584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96112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Fuzzy Search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96112" y="3108960"/>
            <a:ext cx="3017520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312724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words within distance k without checking all of them?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80390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14400" y="404164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Trie-guided search with DP row tracking</a:t>
            </a:r>
            <a:endParaRPr lang="en-US" sz="103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branches above the threshold</a:t>
            </a:r>
            <a:endParaRPr lang="en-US" sz="103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O(α×k×|prefixes|) instead of O(N×m×n)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4334256" y="164592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34256" y="1645920"/>
            <a:ext cx="3529584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19" name="Text 16"/>
          <p:cNvSpPr/>
          <p:nvPr/>
        </p:nvSpPr>
        <p:spPr>
          <a:xfrm>
            <a:off x="4590288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4590288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Pointer-Based Storage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4590288" y="3108960"/>
            <a:ext cx="3017520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312724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requires pointers — no array storage allowed.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08576" y="380390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08576" y="404164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for Trie children (dynamic)</a:t>
            </a:r>
            <a:endParaRPr lang="en-US" sz="103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memory mgmt with destructors</a:t>
            </a:r>
            <a:endParaRPr lang="en-US" sz="103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Five — copy ops deleted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8028432" y="164592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028432" y="1645920"/>
            <a:ext cx="3529584" cy="82296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27" name="Text 24"/>
          <p:cNvSpPr/>
          <p:nvPr/>
        </p:nvSpPr>
        <p:spPr>
          <a:xfrm>
            <a:off x="8284464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E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8284464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Suggestions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8284464" y="3108960"/>
            <a:ext cx="3017520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30" name="Text 27"/>
          <p:cNvSpPr/>
          <p:nvPr/>
        </p:nvSpPr>
        <p:spPr>
          <a:xfrm>
            <a:off x="8412480" y="312724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rank by distance vs. frequency?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302752" y="3803904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302752" y="404164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sort: distance, then frequency</a:t>
            </a:r>
            <a:endParaRPr lang="en-US" sz="103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buffer keeps top-k</a:t>
            </a:r>
            <a:endParaRPr lang="en-US" sz="103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03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→ O(k) complexity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640080" y="512064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14400" y="5440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577840"/>
            <a:ext cx="182880" cy="1828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554480" y="5285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D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1554480" y="55778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pruning dramatically improves performance.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structures demand disciplined memory management.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buffer vs. dynamic allocation is a real trade-off.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DEMONSTRATION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212848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417320" y="21762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dictionary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417320" y="2450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./spellcheck data/input_large.json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916936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3072384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417320" y="3035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batch processing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417320" y="3310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 correct / incorrect, ranked suggestions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3776472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" y="3931920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931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417320" y="38953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interactive fallback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417320" y="41696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suggestions with distance &amp; frequency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" y="4636008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" y="4791456"/>
            <a:ext cx="438912" cy="438912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791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417320" y="4754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demo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417320" y="50292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./frontend/gui/build/spell_gui — type &amp; click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0080" y="5495544"/>
            <a:ext cx="47548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22960" y="5650992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650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1417320" y="56144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features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417320" y="58887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lookup · accurate · ranked · autocomplete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7150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715000" y="2057400"/>
            <a:ext cx="5833872" cy="4069080"/>
          </a:xfrm>
          <a:prstGeom prst="roundRect">
            <a:avLst>
              <a:gd name="adj" fmla="val 1348"/>
            </a:avLst>
          </a:prstGeom>
          <a:solidFill>
            <a:srgbClr val="0B1626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6">
                <a:alpha val="17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952744" y="2258568"/>
            <a:ext cx="109728" cy="109728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38" name="Shape 35"/>
          <p:cNvSpPr/>
          <p:nvPr/>
        </p:nvSpPr>
        <p:spPr>
          <a:xfrm>
            <a:off x="6172200" y="225856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9" name="Shape 36"/>
          <p:cNvSpPr/>
          <p:nvPr/>
        </p:nvSpPr>
        <p:spPr>
          <a:xfrm>
            <a:off x="6391656" y="2258568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0" name="Text 37"/>
          <p:cNvSpPr/>
          <p:nvPr/>
        </p:nvSpPr>
        <p:spPr>
          <a:xfrm>
            <a:off x="6675120" y="214884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71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spellcheck — batch mode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07608" y="2532888"/>
            <a:ext cx="5285232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DD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Batch Check ===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 correct.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helo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(dist=1, freq=30000)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wrold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(dist=1, freq=40000)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thier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their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(dist=1, freq=50000)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there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(dist=1, freq=45000)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they 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6E8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(dist=2, freq=60000)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Performance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207568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691640"/>
            <a:ext cx="2075688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947672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31520" y="26060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48356" y="1691640"/>
            <a:ext cx="207568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48356" y="1691640"/>
            <a:ext cx="2075688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2939796" y="1947672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2939796" y="26060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56632" y="1691640"/>
            <a:ext cx="207568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56632" y="1691640"/>
            <a:ext cx="2075688" cy="7315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19" name="Text 16"/>
          <p:cNvSpPr/>
          <p:nvPr/>
        </p:nvSpPr>
        <p:spPr>
          <a:xfrm>
            <a:off x="5148072" y="1947672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5148072" y="26060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NODES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64908" y="1691640"/>
            <a:ext cx="207568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264908" y="1691640"/>
            <a:ext cx="2075688" cy="7315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56348" y="1947672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&lt;0.01s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7356348" y="26060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QUERY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473184" y="1691640"/>
            <a:ext cx="207568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473184" y="1691640"/>
            <a:ext cx="2075688" cy="7315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27" name="Text 24"/>
          <p:cNvSpPr/>
          <p:nvPr/>
        </p:nvSpPr>
        <p:spPr>
          <a:xfrm>
            <a:off x="9564624" y="1947672"/>
            <a:ext cx="189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564624" y="26060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TARGET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0080" y="3429000"/>
            <a:ext cx="70408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1440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43B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840480"/>
            <a:ext cx="182880" cy="1828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536192" y="3666744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932688" y="438912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OPS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932688" y="4690872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O(k) per word</a:t>
            </a:r>
            <a:endParaRPr lang="en-US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— O(k) per word</a:t>
            </a:r>
            <a:endParaRPr lang="en-US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efficient prefix sharing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160520" y="438912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160520" y="4690872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— O(α×k×|prefixes|)</a:t>
            </a:r>
            <a:endParaRPr lang="en-US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— O(k×target) per level</a:t>
            </a:r>
            <a:endParaRPr lang="en-US" sz="11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cuts the search space sharply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891272" y="3429000"/>
            <a:ext cx="3657600" cy="2697480"/>
          </a:xfrm>
          <a:prstGeom prst="roundRect">
            <a:avLst>
              <a:gd name="adj" fmla="val 3051"/>
            </a:avLst>
          </a:prstGeom>
          <a:solidFill>
            <a:srgbClr val="FFF5F5"/>
          </a:solidFill>
          <a:ln w="12700">
            <a:solidFill>
              <a:srgbClr val="F4C9CC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147304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545B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3840480"/>
            <a:ext cx="182880" cy="1828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769096" y="366674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3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41" name="Text 36"/>
          <p:cNvSpPr/>
          <p:nvPr/>
        </p:nvSpPr>
        <p:spPr>
          <a:xfrm>
            <a:off x="8165592" y="43891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transposition (standard Levenshtein)</a:t>
            </a:r>
            <a:endParaRPr lang="en-US" sz="11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— no concurrency</a:t>
            </a:r>
            <a:endParaRPr lang="en-US" sz="11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A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buffer size for suggestions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194560"/>
            <a:ext cx="5029200" cy="5029200"/>
          </a:xfrm>
          <a:prstGeom prst="ellipse">
            <a:avLst/>
          </a:prstGeom>
          <a:solidFill>
            <a:srgbClr val="15294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729691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7D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CONCLUSION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371600" y="78638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Achievements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13243B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18928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0574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183794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Data Structures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627632" y="2276856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with LinkedList children · pointer-based, no STL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90488" y="1600200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13243B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46520" y="18928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05740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1837944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Algorithms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178040" y="2276856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with early termination · pruned fuzzy search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264408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13243B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96112" y="355701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721608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27632" y="3502152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System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627632" y="3941064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Checking, correction &amp; autocomplete · required Qt6 GUI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190488" y="3264408"/>
            <a:ext cx="5358384" cy="1481328"/>
          </a:xfrm>
          <a:prstGeom prst="roundRect">
            <a:avLst>
              <a:gd name="adj" fmla="val 5556"/>
            </a:avLst>
          </a:prstGeom>
          <a:solidFill>
            <a:srgbClr val="13243B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46520" y="355701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721608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78040" y="3502152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Practices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178040" y="3941064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· modular layout · Make + CMake · clang-format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40080" y="5074920"/>
            <a:ext cx="10908792" cy="1097280"/>
          </a:xfrm>
          <a:prstGeom prst="roundRect">
            <a:avLst>
              <a:gd name="adj" fmla="val 8333"/>
            </a:avLst>
          </a:prstGeom>
          <a:solidFill>
            <a:srgbClr val="13243B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" y="5074920"/>
            <a:ext cx="82296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3"/>
          <p:cNvSpPr/>
          <p:nvPr/>
        </p:nvSpPr>
        <p:spPr>
          <a:xfrm>
            <a:off x="950976" y="5349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5294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55138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82496" y="5294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7D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050" dirty="0"/>
          </a:p>
        </p:txBody>
      </p:sp>
      <p:sp>
        <p:nvSpPr>
          <p:cNvPr id="33" name="Text 25">
            <a:hlinkClick r:id="rId7" tooltip=""/>
          </p:cNvPr>
          <p:cNvSpPr/>
          <p:nvPr/>
        </p:nvSpPr>
        <p:spPr>
          <a:xfrm>
            <a:off x="1682496" y="55869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https://github.com/KenanOzcakir/Yeditepe-CSE-211-SpringTermProject/tree/main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CSE211-PROJ25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03504" cy="603504"/>
          </a:xfrm>
          <a:prstGeom prst="ellipse">
            <a:avLst/>
          </a:prstGeom>
          <a:solidFill>
            <a:srgbClr val="13243B"/>
          </a:solidFill>
          <a:ln/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62636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Diagrams Reference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607040" y="475488"/>
            <a:ext cx="941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r" indent="0" marL="0">
              <a:buNone/>
            </a:pPr>
            <a:r>
              <a:rPr lang="en-US" sz="1200" dirty="0">
                <a:solidFill>
                  <a:srgbClr val="B8C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A5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CSE211-PROJ25  ·  Spell Checker &amp; Corrector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645920"/>
            <a:ext cx="10908792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7824" y="1824228"/>
            <a:ext cx="493776" cy="493776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" y="18242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00200" y="1824228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333" y="1972361"/>
            <a:ext cx="197510" cy="1975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1720" y="1773936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Diagram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331720" y="2084832"/>
            <a:ext cx="8988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docs/uml/class_diagram.puml — all classes with inheritance, composition &amp; associations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2615184"/>
            <a:ext cx="10908792" cy="850392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7824" y="2793492"/>
            <a:ext cx="493776" cy="493776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18" name="Text 14"/>
          <p:cNvSpPr/>
          <p:nvPr/>
        </p:nvSpPr>
        <p:spPr>
          <a:xfrm>
            <a:off x="877824" y="27934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600200" y="279349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33" y="2941625"/>
            <a:ext cx="197510" cy="1975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331720" y="2743200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Diagram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331720" y="3054096"/>
            <a:ext cx="8988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docs/uml/sequence_diagram.puml — main workflow: Load → Check → Suggest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584448"/>
            <a:ext cx="10908792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77824" y="3762756"/>
            <a:ext cx="493776" cy="493776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25" name="Text 20"/>
          <p:cNvSpPr/>
          <p:nvPr/>
        </p:nvSpPr>
        <p:spPr>
          <a:xfrm>
            <a:off x="877824" y="37627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1600200" y="3762756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333" y="3910889"/>
            <a:ext cx="197510" cy="19751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331720" y="3712464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Trie Structure Diagram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2331720" y="4023360"/>
            <a:ext cx="8988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of Trie nodes, e.g. “hello”, “help”, “world” sharing prefixes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0080" y="4553712"/>
            <a:ext cx="10908792" cy="850392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77824" y="4732020"/>
            <a:ext cx="493776" cy="493776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32" name="Text 26"/>
          <p:cNvSpPr/>
          <p:nvPr/>
        </p:nvSpPr>
        <p:spPr>
          <a:xfrm>
            <a:off x="877824" y="47320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1600200" y="4732020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8333" y="4880153"/>
            <a:ext cx="197510" cy="19751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331720" y="4681728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Diagram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2331720" y="4992624"/>
            <a:ext cx="8988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Parser → Trie → SpellChecker → GUI/CLI transformations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40080" y="5522976"/>
            <a:ext cx="10908792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77824" y="5701284"/>
            <a:ext cx="493776" cy="493776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39" name="Text 32"/>
          <p:cNvSpPr/>
          <p:nvPr/>
        </p:nvSpPr>
        <p:spPr>
          <a:xfrm>
            <a:off x="877824" y="57012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1600200" y="5701284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14B8A6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8333" y="5849417"/>
            <a:ext cx="197510" cy="19751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331720" y="5650992"/>
            <a:ext cx="8988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Flowchart</a:t>
            </a:r>
            <a:endParaRPr lang="en-US" sz="1500" dirty="0"/>
          </a:p>
        </p:txBody>
      </p:sp>
      <p:sp>
        <p:nvSpPr>
          <p:cNvPr id="43" name="Text 35"/>
          <p:cNvSpPr/>
          <p:nvPr/>
        </p:nvSpPr>
        <p:spPr>
          <a:xfrm>
            <a:off x="2331720" y="5961888"/>
            <a:ext cx="8988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 steps with decision points: pruning &amp; ranking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Spell Checker &amp; Corrector</dc:title>
  <dc:subject>PptxGenJS Presentation</dc:subject>
  <dc:creator>PROJ-25</dc:creator>
  <cp:lastModifiedBy>PROJ-25</cp:lastModifiedBy>
  <cp:revision>1</cp:revision>
  <dcterms:created xsi:type="dcterms:W3CDTF">2026-06-01T20:25:41Z</dcterms:created>
  <dcterms:modified xsi:type="dcterms:W3CDTF">2026-06-01T20:25:41Z</dcterms:modified>
</cp:coreProperties>
</file>