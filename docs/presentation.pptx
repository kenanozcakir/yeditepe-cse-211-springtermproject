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7772400" cy="100584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2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" name="Shape 2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Varsayı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arsayılan 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377640" y="427679"/>
            <a:ext cx="6797520" cy="1710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377640" y="2459520"/>
            <a:ext cx="6797520" cy="7057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6985273" y="9944999"/>
            <a:ext cx="190247" cy="19564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>
            <a:lvl1pPr algn="r">
              <a:defRPr spc="-1" sz="1400">
                <a:solidFill>
                  <a:srgbClr val="888888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Times New Roman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Times New Roman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Times New Roman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Times New Roman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Times New Roman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Times New Roman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Times New Roman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Times New Roman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Times New Roman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8.jpe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9.jpe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7.jpeg"/><Relationship Id="rId4" Type="http://schemas.openxmlformats.org/officeDocument/2006/relationships/image" Target="../media/image9.jpe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0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bject 1"/>
          <p:cNvSpPr/>
          <p:nvPr/>
        </p:nvSpPr>
        <p:spPr>
          <a:xfrm>
            <a:off x="899639" y="369396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2" name="object 2"/>
          <p:cNvSpPr/>
          <p:nvPr/>
        </p:nvSpPr>
        <p:spPr>
          <a:xfrm>
            <a:off x="899639" y="1800719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3" name="object 4"/>
          <p:cNvSpPr txBox="1"/>
          <p:nvPr/>
        </p:nvSpPr>
        <p:spPr>
          <a:xfrm>
            <a:off x="899640" y="1058759"/>
            <a:ext cx="4217761" cy="21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700"/>
              </a:lnSpc>
              <a:defRPr spc="-1" sz="1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CSE211-PROJ25: Spell Checker &amp; Corrector</a:t>
            </a:r>
          </a:p>
        </p:txBody>
      </p:sp>
      <p:sp>
        <p:nvSpPr>
          <p:cNvPr id="34" name="object 5"/>
          <p:cNvSpPr txBox="1"/>
          <p:nvPr/>
        </p:nvSpPr>
        <p:spPr>
          <a:xfrm>
            <a:off x="899640" y="1443960"/>
            <a:ext cx="2356201" cy="190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Presentation Slides Content</a:t>
            </a:r>
          </a:p>
        </p:txBody>
      </p:sp>
      <p:sp>
        <p:nvSpPr>
          <p:cNvPr id="35" name="object 6"/>
          <p:cNvSpPr txBox="1"/>
          <p:nvPr/>
        </p:nvSpPr>
        <p:spPr>
          <a:xfrm>
            <a:off x="899640" y="2009519"/>
            <a:ext cx="2608921" cy="3956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pPr>
            <a:r>
              <a:t>Slide 1: Title Slide</a:t>
            </a:r>
          </a:p>
          <a:p>
            <a:pPr>
              <a:lnSpc>
                <a:spcPts val="1300"/>
              </a:lnSpc>
              <a:spcBef>
                <a:spcPts val="300"/>
              </a:spcBef>
              <a:defRPr b="1" spc="-1" sz="1100"/>
            </a:pPr>
            <a:r>
              <a:t>CSE211-PROJ25: Spell Checker &amp; Corrector</a:t>
            </a:r>
          </a:p>
        </p:txBody>
      </p:sp>
      <p:sp>
        <p:nvSpPr>
          <p:cNvPr id="36" name="object 7"/>
          <p:cNvSpPr txBox="1"/>
          <p:nvPr/>
        </p:nvSpPr>
        <p:spPr>
          <a:xfrm>
            <a:off x="899640" y="2518560"/>
            <a:ext cx="18327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Data Structures Term Project</a:t>
            </a:r>
          </a:p>
        </p:txBody>
      </p:sp>
      <p:sp>
        <p:nvSpPr>
          <p:cNvPr id="37" name="object 8"/>
          <p:cNvSpPr txBox="1"/>
          <p:nvPr/>
        </p:nvSpPr>
        <p:spPr>
          <a:xfrm>
            <a:off x="899640" y="2790719"/>
            <a:ext cx="10551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Group: </a:t>
            </a:r>
            <a:r>
              <a:rPr b="0"/>
              <a:t>PROJ-25</a:t>
            </a:r>
          </a:p>
        </p:txBody>
      </p:sp>
      <p:sp>
        <p:nvSpPr>
          <p:cNvPr id="38" name="object 9"/>
          <p:cNvSpPr txBox="1"/>
          <p:nvPr/>
        </p:nvSpPr>
        <p:spPr>
          <a:xfrm>
            <a:off x="899639" y="2961000"/>
            <a:ext cx="6033242" cy="497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Members: </a:t>
            </a:r>
            <a:r>
              <a:rPr b="0"/>
              <a:t>AYBERK ŞENSÖZ, KEREM KÖSE, EMİRHAN DEMİR</a:t>
            </a:r>
            <a:r>
              <a:rPr b="0"/>
              <a:t> , KENAN ÖZÇAKIR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defRPr b="1" spc="-1" sz="1100"/>
            </a:pPr>
            <a:r>
              <a:t>Course: </a:t>
            </a:r>
            <a:r>
              <a:rPr b="0"/>
              <a:t>CSE 211 - Data Structures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defRPr b="1" spc="-1" sz="1100"/>
            </a:pPr>
            <a:r>
              <a:t>Semester: </a:t>
            </a:r>
            <a:r>
              <a:rPr b="0"/>
              <a:t>2025-2026 Spring</a:t>
            </a:r>
          </a:p>
        </p:txBody>
      </p:sp>
      <p:sp>
        <p:nvSpPr>
          <p:cNvPr id="39" name="object 10"/>
          <p:cNvSpPr txBox="1"/>
          <p:nvPr/>
        </p:nvSpPr>
        <p:spPr>
          <a:xfrm>
            <a:off x="899640" y="3903119"/>
            <a:ext cx="2138401" cy="520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pPr>
            <a:r>
              <a:t>Slide 2: Project Overview</a:t>
            </a:r>
          </a:p>
          <a:p>
            <a:pPr>
              <a:lnSpc>
                <a:spcPts val="1400"/>
              </a:lnSpc>
              <a:spcBef>
                <a:spcPts val="1200"/>
              </a:spcBef>
              <a:defRPr spc="-1" sz="1300">
                <a:latin typeface="Arial"/>
                <a:ea typeface="Arial"/>
                <a:cs typeface="Arial"/>
                <a:sym typeface="Arial"/>
              </a:defRPr>
            </a:pPr>
            <a:r>
              <a:t>Problem Statement</a:t>
            </a:r>
          </a:p>
        </p:txBody>
      </p:sp>
      <p:sp>
        <p:nvSpPr>
          <p:cNvPr id="40" name="object 11"/>
          <p:cNvSpPr txBox="1"/>
          <p:nvPr/>
        </p:nvSpPr>
        <p:spPr>
          <a:xfrm>
            <a:off x="1128240" y="449891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41" name="object 12"/>
          <p:cNvSpPr txBox="1"/>
          <p:nvPr/>
        </p:nvSpPr>
        <p:spPr>
          <a:xfrm>
            <a:off x="1356839" y="4482000"/>
            <a:ext cx="3144602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Build a spell checker that identifies misspelled words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Suggest corrections using edit distance algorithm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Handle large dictionaries efficiently</a:t>
            </a:r>
          </a:p>
        </p:txBody>
      </p:sp>
      <p:sp>
        <p:nvSpPr>
          <p:cNvPr id="42" name="object 13"/>
          <p:cNvSpPr txBox="1"/>
          <p:nvPr/>
        </p:nvSpPr>
        <p:spPr>
          <a:xfrm>
            <a:off x="899640" y="5354639"/>
            <a:ext cx="92268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Objectives</a:t>
            </a:r>
          </a:p>
        </p:txBody>
      </p:sp>
      <p:sp>
        <p:nvSpPr>
          <p:cNvPr id="43" name="object 14"/>
          <p:cNvSpPr txBox="1"/>
          <p:nvPr/>
        </p:nvSpPr>
        <p:spPr>
          <a:xfrm>
            <a:off x="1128240" y="5594039"/>
            <a:ext cx="235801" cy="951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44" name="object 15"/>
          <p:cNvSpPr txBox="1"/>
          <p:nvPr/>
        </p:nvSpPr>
        <p:spPr>
          <a:xfrm>
            <a:off x="1356840" y="5577120"/>
            <a:ext cx="30826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Implement custom data structures (Trie, LinkedList)</a:t>
            </a:r>
          </a:p>
        </p:txBody>
      </p:sp>
      <p:sp>
        <p:nvSpPr>
          <p:cNvPr id="45" name="object 16"/>
          <p:cNvSpPr txBox="1"/>
          <p:nvPr/>
        </p:nvSpPr>
        <p:spPr>
          <a:xfrm>
            <a:off x="1356840" y="5849280"/>
            <a:ext cx="3612601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Use Levenshtein distance for word similarity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Provide ranked suggestions based on distance and frequency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Provide Qt6 visual GUI with autocomplete</a:t>
            </a:r>
          </a:p>
        </p:txBody>
      </p:sp>
      <p:sp>
        <p:nvSpPr>
          <p:cNvPr id="46" name="object 17"/>
          <p:cNvSpPr txBox="1"/>
          <p:nvPr/>
        </p:nvSpPr>
        <p:spPr>
          <a:xfrm>
            <a:off x="899640" y="6721919"/>
            <a:ext cx="113400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Key Features</a:t>
            </a:r>
          </a:p>
        </p:txBody>
      </p:sp>
      <p:sp>
        <p:nvSpPr>
          <p:cNvPr id="47" name="object 18"/>
          <p:cNvSpPr txBox="1"/>
          <p:nvPr/>
        </p:nvSpPr>
        <p:spPr>
          <a:xfrm>
            <a:off x="1128240" y="6978960"/>
            <a:ext cx="235801" cy="1560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48" name="object 19"/>
          <p:cNvSpPr txBox="1"/>
          <p:nvPr/>
        </p:nvSpPr>
        <p:spPr>
          <a:xfrm>
            <a:off x="1356840" y="6944400"/>
            <a:ext cx="2219041" cy="177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100"/>
            </a:lvl1pPr>
          </a:lstStyle>
          <a:p>
            <a:pPr>
              <a:defRPr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O(k) dictionary lookup using Trie</a:t>
            </a:r>
          </a:p>
        </p:txBody>
      </p:sp>
      <p:sp>
        <p:nvSpPr>
          <p:cNvPr id="49" name="object 20"/>
          <p:cNvSpPr txBox="1"/>
          <p:nvPr/>
        </p:nvSpPr>
        <p:spPr>
          <a:xfrm>
            <a:off x="1356840" y="7234200"/>
            <a:ext cx="2676601" cy="443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Fuzzy search with bounded edit distance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Frequency-based ranking</a:t>
            </a:r>
          </a:p>
        </p:txBody>
      </p:sp>
      <p:sp>
        <p:nvSpPr>
          <p:cNvPr id="50" name="object 21"/>
          <p:cNvSpPr txBox="1"/>
          <p:nvPr/>
        </p:nvSpPr>
        <p:spPr>
          <a:xfrm>
            <a:off x="1356839" y="7814160"/>
            <a:ext cx="2948762" cy="710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GUI suggestions plus CLI batch fallback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Graphical User Interface (GUI) with Qt6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Stress-tested with 10K synthetic words</a:t>
            </a:r>
          </a:p>
        </p:txBody>
      </p:sp>
      <p:sp>
        <p:nvSpPr>
          <p:cNvPr id="51" name="object 22"/>
          <p:cNvSpPr txBox="1"/>
          <p:nvPr/>
        </p:nvSpPr>
        <p:spPr>
          <a:xfrm>
            <a:off x="899640" y="8740079"/>
            <a:ext cx="113400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Technologies</a:t>
            </a:r>
          </a:p>
        </p:txBody>
      </p:sp>
      <p:sp>
        <p:nvSpPr>
          <p:cNvPr id="52" name="object 23"/>
          <p:cNvSpPr txBox="1"/>
          <p:nvPr/>
        </p:nvSpPr>
        <p:spPr>
          <a:xfrm>
            <a:off x="1128240" y="8979120"/>
            <a:ext cx="235801" cy="163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-</a:t>
            </a:r>
          </a:p>
        </p:txBody>
      </p:sp>
      <p:sp>
        <p:nvSpPr>
          <p:cNvPr id="53" name="object 24"/>
          <p:cNvSpPr txBox="1"/>
          <p:nvPr/>
        </p:nvSpPr>
        <p:spPr>
          <a:xfrm>
            <a:off x="1356840" y="8962559"/>
            <a:ext cx="11271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Language: </a:t>
            </a:r>
            <a:r>
              <a:rPr b="0"/>
              <a:t>C++17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bject 1"/>
          <p:cNvSpPr/>
          <p:nvPr/>
        </p:nvSpPr>
        <p:spPr>
          <a:xfrm>
            <a:off x="899639" y="238032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6" name="object 2"/>
          <p:cNvSpPr/>
          <p:nvPr/>
        </p:nvSpPr>
        <p:spPr>
          <a:xfrm>
            <a:off x="881280" y="3168360"/>
            <a:ext cx="6009121" cy="3717361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" name="object 4"/>
          <p:cNvSpPr txBox="1"/>
          <p:nvPr/>
        </p:nvSpPr>
        <p:spPr>
          <a:xfrm>
            <a:off x="1128240" y="916560"/>
            <a:ext cx="235801" cy="1205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58" name="object 5"/>
          <p:cNvSpPr txBox="1"/>
          <p:nvPr/>
        </p:nvSpPr>
        <p:spPr>
          <a:xfrm>
            <a:off x="1356840" y="899640"/>
            <a:ext cx="3554281" cy="954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Data Structures: </a:t>
            </a:r>
            <a:r>
              <a:rPr b="0"/>
              <a:t>Custom Trie, LinkedList (no STL containers)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b="1" spc="-1" sz="1100"/>
            </a:pPr>
            <a:r>
              <a:t>Algorithm: </a:t>
            </a:r>
            <a:r>
              <a:rPr b="0"/>
              <a:t>Dynamic Programming (Levenshtein distance)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b="1" spc="-1" sz="1100"/>
            </a:pPr>
            <a:r>
              <a:t>Build System: </a:t>
            </a:r>
            <a:r>
              <a:rPr b="0"/>
              <a:t>Makefile + CMake (for GUI)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b="1" spc="-1" sz="1100"/>
            </a:pPr>
            <a:r>
              <a:t>Frontend: </a:t>
            </a:r>
            <a:r>
              <a:rPr b="0"/>
              <a:t>Qt6 GUI + CLI fallback</a:t>
            </a:r>
          </a:p>
        </p:txBody>
      </p:sp>
      <p:sp>
        <p:nvSpPr>
          <p:cNvPr id="59" name="object 6"/>
          <p:cNvSpPr txBox="1"/>
          <p:nvPr/>
        </p:nvSpPr>
        <p:spPr>
          <a:xfrm>
            <a:off x="1356840" y="1988279"/>
            <a:ext cx="16200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Documentation: </a:t>
            </a:r>
            <a:r>
              <a:rPr b="0"/>
              <a:t>Doxygen</a:t>
            </a:r>
          </a:p>
        </p:txBody>
      </p:sp>
      <p:sp>
        <p:nvSpPr>
          <p:cNvPr id="60" name="object 7"/>
          <p:cNvSpPr txBox="1"/>
          <p:nvPr/>
        </p:nvSpPr>
        <p:spPr>
          <a:xfrm>
            <a:off x="899640" y="2589120"/>
            <a:ext cx="3383281" cy="190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3: System Architecture - High Level</a:t>
            </a:r>
          </a:p>
        </p:txBody>
      </p:sp>
      <p:sp>
        <p:nvSpPr>
          <p:cNvPr id="61" name="object 8"/>
          <p:cNvSpPr txBox="1"/>
          <p:nvPr/>
        </p:nvSpPr>
        <p:spPr>
          <a:xfrm>
            <a:off x="899640" y="2945520"/>
            <a:ext cx="176688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Architecture Overview</a:t>
            </a:r>
          </a:p>
        </p:txBody>
      </p:sp>
      <p:sp>
        <p:nvSpPr>
          <p:cNvPr id="62" name="object 9"/>
          <p:cNvSpPr txBox="1"/>
          <p:nvPr/>
        </p:nvSpPr>
        <p:spPr>
          <a:xfrm>
            <a:off x="899640" y="3168360"/>
            <a:ext cx="1199521" cy="141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┌─────────────┐</a:t>
            </a:r>
          </a:p>
        </p:txBody>
      </p:sp>
      <p:sp>
        <p:nvSpPr>
          <p:cNvPr id="63" name="object 10"/>
          <p:cNvSpPr txBox="1"/>
          <p:nvPr/>
        </p:nvSpPr>
        <p:spPr>
          <a:xfrm>
            <a:off x="899640" y="3317040"/>
            <a:ext cx="85032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r>
              <a:rPr spc="1398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Input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r>
              <a:rPr spc="1398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Parser</a:t>
            </a:r>
          </a:p>
        </p:txBody>
      </p:sp>
      <p:sp>
        <p:nvSpPr>
          <p:cNvPr id="64" name="object 11"/>
          <p:cNvSpPr txBox="1"/>
          <p:nvPr/>
        </p:nvSpPr>
        <p:spPr>
          <a:xfrm>
            <a:off x="1877399" y="3317040"/>
            <a:ext cx="3154681" cy="421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r>
              <a:rPr spc="847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JSON files (dictionary + words to check)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</a:p>
        </p:txBody>
      </p:sp>
      <p:sp>
        <p:nvSpPr>
          <p:cNvPr id="65" name="object 12"/>
          <p:cNvSpPr txBox="1"/>
          <p:nvPr/>
        </p:nvSpPr>
        <p:spPr>
          <a:xfrm>
            <a:off x="899640" y="3614399"/>
            <a:ext cx="1199521" cy="141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└──────┬──────┘</a:t>
            </a:r>
          </a:p>
        </p:txBody>
      </p:sp>
      <p:sp>
        <p:nvSpPr>
          <p:cNvPr id="66" name="object 13"/>
          <p:cNvSpPr txBox="1"/>
          <p:nvPr/>
        </p:nvSpPr>
        <p:spPr>
          <a:xfrm>
            <a:off x="1388519" y="3763079"/>
            <a:ext cx="221761" cy="281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▼</a:t>
            </a:r>
          </a:p>
        </p:txBody>
      </p:sp>
      <p:sp>
        <p:nvSpPr>
          <p:cNvPr id="67" name="object 14"/>
          <p:cNvSpPr txBox="1"/>
          <p:nvPr/>
        </p:nvSpPr>
        <p:spPr>
          <a:xfrm>
            <a:off x="899640" y="4060440"/>
            <a:ext cx="1199521" cy="141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┌─────────────┐</a:t>
            </a:r>
          </a:p>
        </p:txBody>
      </p:sp>
      <p:sp>
        <p:nvSpPr>
          <p:cNvPr id="68" name="object 15"/>
          <p:cNvSpPr txBox="1"/>
          <p:nvPr/>
        </p:nvSpPr>
        <p:spPr>
          <a:xfrm>
            <a:off x="899640" y="4209119"/>
            <a:ext cx="71064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r>
              <a:rPr spc="1398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Trie</a:t>
            </a:r>
          </a:p>
        </p:txBody>
      </p:sp>
      <p:sp>
        <p:nvSpPr>
          <p:cNvPr id="69" name="object 16"/>
          <p:cNvSpPr txBox="1"/>
          <p:nvPr/>
        </p:nvSpPr>
        <p:spPr>
          <a:xfrm>
            <a:off x="1877399" y="4209119"/>
            <a:ext cx="259596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r>
              <a:rPr spc="847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Dictionary storage (O(k) lookup)</a:t>
            </a:r>
          </a:p>
        </p:txBody>
      </p:sp>
      <p:sp>
        <p:nvSpPr>
          <p:cNvPr id="70" name="object 17"/>
          <p:cNvSpPr txBox="1"/>
          <p:nvPr/>
        </p:nvSpPr>
        <p:spPr>
          <a:xfrm>
            <a:off x="899640" y="4357799"/>
            <a:ext cx="9201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r>
              <a:rPr spc="847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(Custom)</a:t>
            </a:r>
          </a:p>
        </p:txBody>
      </p:sp>
      <p:sp>
        <p:nvSpPr>
          <p:cNvPr id="71" name="object 18"/>
          <p:cNvSpPr txBox="1"/>
          <p:nvPr/>
        </p:nvSpPr>
        <p:spPr>
          <a:xfrm>
            <a:off x="1877399" y="4357799"/>
            <a:ext cx="221761" cy="141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│</a:t>
            </a:r>
          </a:p>
        </p:txBody>
      </p:sp>
      <p:sp>
        <p:nvSpPr>
          <p:cNvPr id="72" name="object 19"/>
          <p:cNvSpPr txBox="1"/>
          <p:nvPr/>
        </p:nvSpPr>
        <p:spPr>
          <a:xfrm>
            <a:off x="899640" y="4506479"/>
            <a:ext cx="1199521" cy="141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└──────┬──────┘</a:t>
            </a:r>
          </a:p>
        </p:txBody>
      </p:sp>
      <p:sp>
        <p:nvSpPr>
          <p:cNvPr id="73" name="object 20"/>
          <p:cNvSpPr txBox="1"/>
          <p:nvPr/>
        </p:nvSpPr>
        <p:spPr>
          <a:xfrm>
            <a:off x="1388519" y="4655160"/>
            <a:ext cx="221761" cy="281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▼</a:t>
            </a:r>
          </a:p>
        </p:txBody>
      </p:sp>
      <p:sp>
        <p:nvSpPr>
          <p:cNvPr id="74" name="object 21"/>
          <p:cNvSpPr txBox="1"/>
          <p:nvPr/>
        </p:nvSpPr>
        <p:spPr>
          <a:xfrm>
            <a:off x="899640" y="4952520"/>
            <a:ext cx="3084841" cy="5608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┌─────────────┐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r>
              <a:rPr spc="29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SpellChecker│</a:t>
            </a:r>
            <a:r>
              <a:rPr spc="847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Core logic + fuzzy search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└──────┬──────┘</a:t>
            </a:r>
          </a:p>
        </p:txBody>
      </p:sp>
      <p:sp>
        <p:nvSpPr>
          <p:cNvPr id="75" name="object 22"/>
          <p:cNvSpPr txBox="1"/>
          <p:nvPr/>
        </p:nvSpPr>
        <p:spPr>
          <a:xfrm>
            <a:off x="1388519" y="5398920"/>
            <a:ext cx="221761" cy="281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▼</a:t>
            </a:r>
          </a:p>
        </p:txBody>
      </p:sp>
      <p:sp>
        <p:nvSpPr>
          <p:cNvPr id="76" name="object 23"/>
          <p:cNvSpPr txBox="1"/>
          <p:nvPr/>
        </p:nvSpPr>
        <p:spPr>
          <a:xfrm>
            <a:off x="899639" y="5696279"/>
            <a:ext cx="2805482" cy="560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┌─────────────┐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r>
              <a:rPr spc="29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EditDistance│</a:t>
            </a:r>
            <a:r>
              <a:rPr spc="847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Levenshtein algorithm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└──────┬──────┘</a:t>
            </a:r>
          </a:p>
        </p:txBody>
      </p:sp>
      <p:sp>
        <p:nvSpPr>
          <p:cNvPr id="77" name="object 24"/>
          <p:cNvSpPr txBox="1"/>
          <p:nvPr/>
        </p:nvSpPr>
        <p:spPr>
          <a:xfrm>
            <a:off x="1388519" y="6142320"/>
            <a:ext cx="221761" cy="281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▼</a:t>
            </a:r>
          </a:p>
        </p:txBody>
      </p:sp>
      <p:sp>
        <p:nvSpPr>
          <p:cNvPr id="78" name="object 25"/>
          <p:cNvSpPr txBox="1"/>
          <p:nvPr/>
        </p:nvSpPr>
        <p:spPr>
          <a:xfrm>
            <a:off x="899640" y="6439680"/>
            <a:ext cx="1199521" cy="141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┌─────────────┐</a:t>
            </a:r>
          </a:p>
        </p:txBody>
      </p:sp>
      <p:sp>
        <p:nvSpPr>
          <p:cNvPr id="79" name="object 26"/>
          <p:cNvSpPr txBox="1"/>
          <p:nvPr/>
        </p:nvSpPr>
        <p:spPr>
          <a:xfrm>
            <a:off x="899640" y="6588359"/>
            <a:ext cx="221761" cy="141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│</a:t>
            </a:r>
          </a:p>
        </p:txBody>
      </p:sp>
      <p:sp>
        <p:nvSpPr>
          <p:cNvPr id="80" name="object 27"/>
          <p:cNvSpPr txBox="1"/>
          <p:nvPr/>
        </p:nvSpPr>
        <p:spPr>
          <a:xfrm>
            <a:off x="1248839" y="6588359"/>
            <a:ext cx="36144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GUI/CLI</a:t>
            </a:r>
          </a:p>
        </p:txBody>
      </p:sp>
      <p:sp>
        <p:nvSpPr>
          <p:cNvPr id="81" name="object 28"/>
          <p:cNvSpPr txBox="1"/>
          <p:nvPr/>
        </p:nvSpPr>
        <p:spPr>
          <a:xfrm>
            <a:off x="1877399" y="6588359"/>
            <a:ext cx="168804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r>
              <a:rPr spc="847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Command-Line Fallback</a:t>
            </a:r>
          </a:p>
        </p:txBody>
      </p:sp>
      <p:sp>
        <p:nvSpPr>
          <p:cNvPr id="82" name="object 29"/>
          <p:cNvSpPr txBox="1"/>
          <p:nvPr/>
        </p:nvSpPr>
        <p:spPr>
          <a:xfrm>
            <a:off x="899640" y="6737039"/>
            <a:ext cx="1199521" cy="141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└─────────────┘</a:t>
            </a:r>
          </a:p>
        </p:txBody>
      </p:sp>
      <p:sp>
        <p:nvSpPr>
          <p:cNvPr id="83" name="object 30"/>
          <p:cNvSpPr txBox="1"/>
          <p:nvPr/>
        </p:nvSpPr>
        <p:spPr>
          <a:xfrm>
            <a:off x="899640" y="7043759"/>
            <a:ext cx="167544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Module Organization</a:t>
            </a:r>
          </a:p>
        </p:txBody>
      </p:sp>
      <p:sp>
        <p:nvSpPr>
          <p:cNvPr id="84" name="object 31"/>
          <p:cNvSpPr txBox="1"/>
          <p:nvPr/>
        </p:nvSpPr>
        <p:spPr>
          <a:xfrm>
            <a:off x="1128240" y="7282799"/>
            <a:ext cx="235801" cy="1205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85" name="object 32"/>
          <p:cNvSpPr txBox="1"/>
          <p:nvPr/>
        </p:nvSpPr>
        <p:spPr>
          <a:xfrm>
            <a:off x="1356840" y="7266240"/>
            <a:ext cx="32245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Data Layer: </a:t>
            </a:r>
            <a:r>
              <a:rPr b="0"/>
              <a:t>Trie, LinkedList (custom implementations)</a:t>
            </a:r>
          </a:p>
        </p:txBody>
      </p:sp>
      <p:sp>
        <p:nvSpPr>
          <p:cNvPr id="86" name="object 33"/>
          <p:cNvSpPr txBox="1"/>
          <p:nvPr/>
        </p:nvSpPr>
        <p:spPr>
          <a:xfrm>
            <a:off x="1356840" y="7538400"/>
            <a:ext cx="2706121" cy="954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Algorithm Layer: </a:t>
            </a:r>
            <a:r>
              <a:rPr b="0"/>
              <a:t>EditDistance, fuzzy search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b="1" spc="-1" sz="1100"/>
            </a:pPr>
            <a:r>
              <a:t>Application Layer: </a:t>
            </a:r>
            <a:r>
              <a:rPr b="0"/>
              <a:t>SpellChecker (integration)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b="1" spc="-1" sz="1100"/>
            </a:pPr>
            <a:r>
              <a:t>Interface Layer: </a:t>
            </a:r>
            <a:r>
              <a:rPr b="0"/>
              <a:t>Qt6 GUI + CLI fallback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b="1" spc="-1" sz="1100"/>
            </a:pPr>
            <a:r>
              <a:t>I/O Layer: </a:t>
            </a:r>
            <a:r>
              <a:rPr b="0"/>
              <a:t>Parser (file handling)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object 1"/>
          <p:cNvSpPr/>
          <p:nvPr/>
        </p:nvSpPr>
        <p:spPr>
          <a:xfrm>
            <a:off x="899639" y="848412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9" name="object 2"/>
          <p:cNvSpPr/>
          <p:nvPr/>
        </p:nvSpPr>
        <p:spPr>
          <a:xfrm>
            <a:off x="899639" y="3579479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" name="object 3"/>
          <p:cNvSpPr/>
          <p:nvPr/>
        </p:nvSpPr>
        <p:spPr>
          <a:xfrm>
            <a:off x="881280" y="4367519"/>
            <a:ext cx="6009121" cy="2527561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" name="object 4"/>
          <p:cNvSpPr/>
          <p:nvPr/>
        </p:nvSpPr>
        <p:spPr>
          <a:xfrm>
            <a:off x="881280" y="1127880"/>
            <a:ext cx="6009121" cy="2230200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" name="object 6"/>
          <p:cNvSpPr txBox="1"/>
          <p:nvPr/>
        </p:nvSpPr>
        <p:spPr>
          <a:xfrm>
            <a:off x="899640" y="905040"/>
            <a:ext cx="138168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Project Structure</a:t>
            </a:r>
          </a:p>
        </p:txBody>
      </p:sp>
      <p:sp>
        <p:nvSpPr>
          <p:cNvPr id="93" name="object 7"/>
          <p:cNvSpPr txBox="1"/>
          <p:nvPr/>
        </p:nvSpPr>
        <p:spPr>
          <a:xfrm>
            <a:off x="899640" y="1127879"/>
            <a:ext cx="112968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CSE211-PROJ25/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include/</a:t>
            </a:r>
          </a:p>
        </p:txBody>
      </p:sp>
      <p:sp>
        <p:nvSpPr>
          <p:cNvPr id="94" name="object 8"/>
          <p:cNvSpPr txBox="1"/>
          <p:nvPr/>
        </p:nvSpPr>
        <p:spPr>
          <a:xfrm>
            <a:off x="899640" y="1425240"/>
            <a:ext cx="221761" cy="421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</a:p>
        </p:txBody>
      </p:sp>
      <p:sp>
        <p:nvSpPr>
          <p:cNvPr id="95" name="object 9"/>
          <p:cNvSpPr txBox="1"/>
          <p:nvPr/>
        </p:nvSpPr>
        <p:spPr>
          <a:xfrm>
            <a:off x="1179000" y="1425240"/>
            <a:ext cx="2945161" cy="2827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data_structures/</a:t>
            </a:r>
            <a:r>
              <a:rPr spc="547"/>
              <a:t> </a:t>
            </a:r>
            <a:r>
              <a:t>(Trie, LinkedList)</a:t>
            </a:r>
          </a:p>
        </p:txBody>
      </p:sp>
      <p:sp>
        <p:nvSpPr>
          <p:cNvPr id="96" name="object 10"/>
          <p:cNvSpPr txBox="1"/>
          <p:nvPr/>
        </p:nvSpPr>
        <p:spPr>
          <a:xfrm>
            <a:off x="1179000" y="1573920"/>
            <a:ext cx="780481" cy="143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core/</a:t>
            </a:r>
          </a:p>
        </p:txBody>
      </p:sp>
      <p:sp>
        <p:nvSpPr>
          <p:cNvPr id="97" name="object 11"/>
          <p:cNvSpPr txBox="1"/>
          <p:nvPr/>
        </p:nvSpPr>
        <p:spPr>
          <a:xfrm>
            <a:off x="2784960" y="1573920"/>
            <a:ext cx="2595961" cy="42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(SpellChecker, EditDistance, Types)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(Parser)</a:t>
            </a:r>
          </a:p>
        </p:txBody>
      </p:sp>
      <p:sp>
        <p:nvSpPr>
          <p:cNvPr id="98" name="object 12"/>
          <p:cNvSpPr txBox="1"/>
          <p:nvPr/>
        </p:nvSpPr>
        <p:spPr>
          <a:xfrm>
            <a:off x="1179000" y="1722600"/>
            <a:ext cx="850321" cy="143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utils/</a:t>
            </a:r>
          </a:p>
        </p:txBody>
      </p:sp>
      <p:sp>
        <p:nvSpPr>
          <p:cNvPr id="99" name="object 13"/>
          <p:cNvSpPr txBox="1"/>
          <p:nvPr/>
        </p:nvSpPr>
        <p:spPr>
          <a:xfrm>
            <a:off x="899640" y="1871279"/>
            <a:ext cx="71064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src/</a:t>
            </a:r>
          </a:p>
        </p:txBody>
      </p:sp>
      <p:sp>
        <p:nvSpPr>
          <p:cNvPr id="100" name="object 14"/>
          <p:cNvSpPr txBox="1"/>
          <p:nvPr/>
        </p:nvSpPr>
        <p:spPr>
          <a:xfrm>
            <a:off x="899640" y="2019960"/>
            <a:ext cx="221761" cy="5608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</a:p>
        </p:txBody>
      </p:sp>
      <p:sp>
        <p:nvSpPr>
          <p:cNvPr id="101" name="object 15"/>
          <p:cNvSpPr txBox="1"/>
          <p:nvPr/>
        </p:nvSpPr>
        <p:spPr>
          <a:xfrm>
            <a:off x="1179000" y="2019960"/>
            <a:ext cx="1548361" cy="562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data_structures/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core/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utils/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main.cpp</a:t>
            </a:r>
          </a:p>
        </p:txBody>
      </p:sp>
      <p:sp>
        <p:nvSpPr>
          <p:cNvPr id="102" name="object 16"/>
          <p:cNvSpPr txBox="1"/>
          <p:nvPr/>
        </p:nvSpPr>
        <p:spPr>
          <a:xfrm>
            <a:off x="899640" y="2614679"/>
            <a:ext cx="105984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frontend/</a:t>
            </a:r>
          </a:p>
        </p:txBody>
      </p:sp>
      <p:sp>
        <p:nvSpPr>
          <p:cNvPr id="103" name="object 17"/>
          <p:cNvSpPr txBox="1"/>
          <p:nvPr/>
        </p:nvSpPr>
        <p:spPr>
          <a:xfrm>
            <a:off x="899640" y="2763360"/>
            <a:ext cx="221761" cy="141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│</a:t>
            </a:r>
          </a:p>
        </p:txBody>
      </p:sp>
      <p:sp>
        <p:nvSpPr>
          <p:cNvPr id="104" name="object 18"/>
          <p:cNvSpPr txBox="1"/>
          <p:nvPr/>
        </p:nvSpPr>
        <p:spPr>
          <a:xfrm>
            <a:off x="1179000" y="2763360"/>
            <a:ext cx="710641" cy="143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gui/</a:t>
            </a:r>
          </a:p>
        </p:txBody>
      </p:sp>
      <p:sp>
        <p:nvSpPr>
          <p:cNvPr id="105" name="object 19"/>
          <p:cNvSpPr txBox="1"/>
          <p:nvPr/>
        </p:nvSpPr>
        <p:spPr>
          <a:xfrm>
            <a:off x="2784960" y="2763360"/>
            <a:ext cx="780481" cy="143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(Qt6 GUI)</a:t>
            </a:r>
          </a:p>
        </p:txBody>
      </p:sp>
      <p:sp>
        <p:nvSpPr>
          <p:cNvPr id="106" name="object 20"/>
          <p:cNvSpPr txBox="1"/>
          <p:nvPr/>
        </p:nvSpPr>
        <p:spPr>
          <a:xfrm>
            <a:off x="899640" y="2912040"/>
            <a:ext cx="221761" cy="141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│</a:t>
            </a:r>
          </a:p>
        </p:txBody>
      </p:sp>
      <p:sp>
        <p:nvSpPr>
          <p:cNvPr id="107" name="object 21"/>
          <p:cNvSpPr txBox="1"/>
          <p:nvPr/>
        </p:nvSpPr>
        <p:spPr>
          <a:xfrm>
            <a:off x="1179000" y="2912040"/>
            <a:ext cx="920161" cy="143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tui.cpp</a:t>
            </a:r>
          </a:p>
        </p:txBody>
      </p:sp>
      <p:sp>
        <p:nvSpPr>
          <p:cNvPr id="108" name="object 22"/>
          <p:cNvSpPr txBox="1"/>
          <p:nvPr/>
        </p:nvSpPr>
        <p:spPr>
          <a:xfrm>
            <a:off x="2784960" y="2912040"/>
            <a:ext cx="2316601" cy="562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(CLI fallback)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(Unit, Integration, Edge Cases)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(JSON dictionaries)</a:t>
            </a:r>
          </a:p>
        </p:txBody>
      </p:sp>
      <p:sp>
        <p:nvSpPr>
          <p:cNvPr id="109" name="object 23"/>
          <p:cNvSpPr txBox="1"/>
          <p:nvPr/>
        </p:nvSpPr>
        <p:spPr>
          <a:xfrm>
            <a:off x="899640" y="3061080"/>
            <a:ext cx="850321" cy="2827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tests/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data/</a:t>
            </a:r>
          </a:p>
        </p:txBody>
      </p:sp>
      <p:sp>
        <p:nvSpPr>
          <p:cNvPr id="110" name="object 24"/>
          <p:cNvSpPr txBox="1"/>
          <p:nvPr/>
        </p:nvSpPr>
        <p:spPr>
          <a:xfrm>
            <a:off x="899640" y="3788640"/>
            <a:ext cx="3343681" cy="520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pPr>
            <a:r>
              <a:t>Slide 4: System Architecture - Data Flow</a:t>
            </a:r>
          </a:p>
          <a:p>
            <a:pPr>
              <a:lnSpc>
                <a:spcPts val="1400"/>
              </a:lnSpc>
              <a:spcBef>
                <a:spcPts val="1200"/>
              </a:spcBef>
              <a:defRPr spc="-1" sz="1300">
                <a:latin typeface="Arial"/>
                <a:ea typeface="Arial"/>
                <a:cs typeface="Arial"/>
                <a:sym typeface="Arial"/>
              </a:defRPr>
            </a:pPr>
            <a:r>
              <a:t>Data Flow Diagram</a:t>
            </a:r>
          </a:p>
        </p:txBody>
      </p:sp>
      <p:sp>
        <p:nvSpPr>
          <p:cNvPr id="111" name="object 25"/>
          <p:cNvSpPr txBox="1"/>
          <p:nvPr/>
        </p:nvSpPr>
        <p:spPr>
          <a:xfrm>
            <a:off x="899640" y="4367519"/>
            <a:ext cx="133920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Input File (JSON)</a:t>
            </a:r>
          </a:p>
        </p:txBody>
      </p:sp>
      <p:sp>
        <p:nvSpPr>
          <p:cNvPr id="112" name="object 26"/>
          <p:cNvSpPr txBox="1"/>
          <p:nvPr/>
        </p:nvSpPr>
        <p:spPr>
          <a:xfrm>
            <a:off x="1179000" y="4516199"/>
            <a:ext cx="221761" cy="141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│</a:t>
            </a:r>
          </a:p>
        </p:txBody>
      </p:sp>
      <p:sp>
        <p:nvSpPr>
          <p:cNvPr id="113" name="object 27"/>
          <p:cNvSpPr txBox="1"/>
          <p:nvPr/>
        </p:nvSpPr>
        <p:spPr>
          <a:xfrm>
            <a:off x="1179000" y="4665240"/>
            <a:ext cx="2176921" cy="2827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├─→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Parser →</a:t>
            </a:r>
            <a:r>
              <a:rPr spc="29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Dictionary Array</a:t>
            </a:r>
          </a:p>
        </p:txBody>
      </p:sp>
      <p:sp>
        <p:nvSpPr>
          <p:cNvPr id="114" name="object 28"/>
          <p:cNvSpPr txBox="1"/>
          <p:nvPr/>
        </p:nvSpPr>
        <p:spPr>
          <a:xfrm>
            <a:off x="1179000" y="4813920"/>
            <a:ext cx="221761" cy="421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</a:p>
        </p:txBody>
      </p:sp>
      <p:sp>
        <p:nvSpPr>
          <p:cNvPr id="115" name="object 29"/>
          <p:cNvSpPr txBox="1"/>
          <p:nvPr/>
        </p:nvSpPr>
        <p:spPr>
          <a:xfrm>
            <a:off x="2226599" y="4813920"/>
            <a:ext cx="221761" cy="141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│</a:t>
            </a:r>
          </a:p>
        </p:txBody>
      </p:sp>
      <p:sp>
        <p:nvSpPr>
          <p:cNvPr id="116" name="object 30"/>
          <p:cNvSpPr txBox="1"/>
          <p:nvPr/>
        </p:nvSpPr>
        <p:spPr>
          <a:xfrm>
            <a:off x="2226599" y="4962600"/>
            <a:ext cx="252612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└─→</a:t>
            </a:r>
            <a:r>
              <a:rPr spc="29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Trie.insert() →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Trie Structure</a:t>
            </a:r>
          </a:p>
        </p:txBody>
      </p:sp>
      <p:sp>
        <p:nvSpPr>
          <p:cNvPr id="117" name="object 31"/>
          <p:cNvSpPr txBox="1"/>
          <p:nvPr/>
        </p:nvSpPr>
        <p:spPr>
          <a:xfrm>
            <a:off x="1178999" y="5259959"/>
            <a:ext cx="1618202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└─→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Check Words Array</a:t>
            </a:r>
          </a:p>
        </p:txBody>
      </p:sp>
      <p:sp>
        <p:nvSpPr>
          <p:cNvPr id="118" name="object 32"/>
          <p:cNvSpPr txBox="1"/>
          <p:nvPr/>
        </p:nvSpPr>
        <p:spPr>
          <a:xfrm>
            <a:off x="1737720" y="5408640"/>
            <a:ext cx="221761" cy="141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│</a:t>
            </a:r>
          </a:p>
        </p:txBody>
      </p:sp>
      <p:sp>
        <p:nvSpPr>
          <p:cNvPr id="119" name="object 33"/>
          <p:cNvSpPr txBox="1"/>
          <p:nvPr/>
        </p:nvSpPr>
        <p:spPr>
          <a:xfrm>
            <a:off x="1737720" y="5557320"/>
            <a:ext cx="196740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└─→</a:t>
            </a:r>
            <a:r>
              <a:rPr spc="29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SpellChecker.suggest()</a:t>
            </a:r>
          </a:p>
        </p:txBody>
      </p:sp>
      <p:sp>
        <p:nvSpPr>
          <p:cNvPr id="120" name="object 34"/>
          <p:cNvSpPr txBox="1"/>
          <p:nvPr/>
        </p:nvSpPr>
        <p:spPr>
          <a:xfrm>
            <a:off x="2296440" y="5706000"/>
            <a:ext cx="221761" cy="141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│</a:t>
            </a:r>
          </a:p>
        </p:txBody>
      </p:sp>
      <p:sp>
        <p:nvSpPr>
          <p:cNvPr id="121" name="object 35"/>
          <p:cNvSpPr txBox="1"/>
          <p:nvPr/>
        </p:nvSpPr>
        <p:spPr>
          <a:xfrm>
            <a:off x="2296440" y="5854679"/>
            <a:ext cx="161820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├─→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Trie fuzzy search</a:t>
            </a:r>
          </a:p>
        </p:txBody>
      </p:sp>
      <p:sp>
        <p:nvSpPr>
          <p:cNvPr id="122" name="object 36"/>
          <p:cNvSpPr txBox="1"/>
          <p:nvPr/>
        </p:nvSpPr>
        <p:spPr>
          <a:xfrm>
            <a:off x="2296440" y="6003359"/>
            <a:ext cx="221761" cy="4211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│</a:t>
            </a:r>
          </a:p>
        </p:txBody>
      </p:sp>
      <p:sp>
        <p:nvSpPr>
          <p:cNvPr id="123" name="object 37"/>
          <p:cNvSpPr txBox="1"/>
          <p:nvPr/>
        </p:nvSpPr>
        <p:spPr>
          <a:xfrm>
            <a:off x="2854799" y="6003359"/>
            <a:ext cx="221761" cy="141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│</a:t>
            </a:r>
          </a:p>
        </p:txBody>
      </p:sp>
      <p:sp>
        <p:nvSpPr>
          <p:cNvPr id="124" name="object 38"/>
          <p:cNvSpPr txBox="1"/>
          <p:nvPr/>
        </p:nvSpPr>
        <p:spPr>
          <a:xfrm>
            <a:off x="2854800" y="6152039"/>
            <a:ext cx="2456280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└─→</a:t>
            </a:r>
            <a:r>
              <a:rPr spc="29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EditDistance.computeBounded()</a:t>
            </a:r>
          </a:p>
        </p:txBody>
      </p:sp>
      <p:sp>
        <p:nvSpPr>
          <p:cNvPr id="125" name="object 39"/>
          <p:cNvSpPr txBox="1"/>
          <p:nvPr/>
        </p:nvSpPr>
        <p:spPr>
          <a:xfrm>
            <a:off x="2296440" y="6449400"/>
            <a:ext cx="217692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└─→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SuggestionBuffer (ranked)</a:t>
            </a:r>
          </a:p>
        </p:txBody>
      </p:sp>
      <p:sp>
        <p:nvSpPr>
          <p:cNvPr id="126" name="object 40"/>
          <p:cNvSpPr txBox="1"/>
          <p:nvPr/>
        </p:nvSpPr>
        <p:spPr>
          <a:xfrm>
            <a:off x="2854799" y="6598080"/>
            <a:ext cx="221761" cy="141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│</a:t>
            </a:r>
          </a:p>
        </p:txBody>
      </p:sp>
      <p:sp>
        <p:nvSpPr>
          <p:cNvPr id="127" name="object 41"/>
          <p:cNvSpPr txBox="1"/>
          <p:nvPr/>
        </p:nvSpPr>
        <p:spPr>
          <a:xfrm>
            <a:off x="2854799" y="6746760"/>
            <a:ext cx="133884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└─→</a:t>
            </a:r>
            <a:r>
              <a:rPr spc="29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Frontend display</a:t>
            </a:r>
          </a:p>
        </p:txBody>
      </p:sp>
      <p:sp>
        <p:nvSpPr>
          <p:cNvPr id="128" name="object 42"/>
          <p:cNvSpPr txBox="1"/>
          <p:nvPr/>
        </p:nvSpPr>
        <p:spPr>
          <a:xfrm>
            <a:off x="899640" y="7053480"/>
            <a:ext cx="133596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Key Interactions</a:t>
            </a:r>
          </a:p>
        </p:txBody>
      </p:sp>
      <p:sp>
        <p:nvSpPr>
          <p:cNvPr id="129" name="object 43"/>
          <p:cNvSpPr txBox="1"/>
          <p:nvPr/>
        </p:nvSpPr>
        <p:spPr>
          <a:xfrm>
            <a:off x="1128240" y="7275959"/>
            <a:ext cx="3171601" cy="954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1.</a:t>
            </a:r>
            <a:r>
              <a:rPr spc="712"/>
              <a:t> </a:t>
            </a:r>
            <a:r>
              <a:rPr b="1"/>
              <a:t>Load: </a:t>
            </a:r>
            <a:r>
              <a:t>Parser reads JSON →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Trie stores dictionary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2.</a:t>
            </a:r>
            <a:r>
              <a:rPr spc="712"/>
              <a:t> </a:t>
            </a:r>
            <a:r>
              <a:rPr b="1"/>
              <a:t>Check: </a:t>
            </a:r>
            <a:r>
              <a:t>User input →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SpellChecker queries Trie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3.</a:t>
            </a:r>
            <a:r>
              <a:rPr spc="712"/>
              <a:t> </a:t>
            </a:r>
            <a:r>
              <a:rPr b="1"/>
              <a:t>Suggest: </a:t>
            </a:r>
            <a:r>
              <a:t>Fuzzy search →</a:t>
            </a: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Edit distance →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Ranking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4.</a:t>
            </a:r>
            <a:r>
              <a:rPr spc="712"/>
              <a:t> </a:t>
            </a:r>
            <a:r>
              <a:rPr b="1"/>
              <a:t>Display: </a:t>
            </a:r>
            <a:r>
              <a:t>SuggestionBuffer →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GUI/CLI output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object 1"/>
          <p:cNvSpPr/>
          <p:nvPr/>
        </p:nvSpPr>
        <p:spPr>
          <a:xfrm>
            <a:off x="881280" y="6981839"/>
            <a:ext cx="6009121" cy="193284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32" name="object 2"/>
          <p:cNvSpPr/>
          <p:nvPr/>
        </p:nvSpPr>
        <p:spPr>
          <a:xfrm>
            <a:off x="881280" y="3188160"/>
            <a:ext cx="6009121" cy="1189441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33" name="object 4"/>
          <p:cNvSpPr txBox="1"/>
          <p:nvPr/>
        </p:nvSpPr>
        <p:spPr>
          <a:xfrm>
            <a:off x="899640" y="905760"/>
            <a:ext cx="2493721" cy="190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5: Data Structures - Trie</a:t>
            </a:r>
          </a:p>
        </p:txBody>
      </p:sp>
      <p:sp>
        <p:nvSpPr>
          <p:cNvPr id="134" name="object 5"/>
          <p:cNvSpPr txBox="1"/>
          <p:nvPr/>
        </p:nvSpPr>
        <p:spPr>
          <a:xfrm>
            <a:off x="899640" y="1262159"/>
            <a:ext cx="222588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Custom Trie Implementation</a:t>
            </a:r>
          </a:p>
        </p:txBody>
      </p:sp>
      <p:sp>
        <p:nvSpPr>
          <p:cNvPr id="135" name="object 6"/>
          <p:cNvSpPr txBox="1"/>
          <p:nvPr/>
        </p:nvSpPr>
        <p:spPr>
          <a:xfrm>
            <a:off x="899640" y="1484639"/>
            <a:ext cx="7394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Why Trie?</a:t>
            </a:r>
          </a:p>
        </p:txBody>
      </p:sp>
      <p:sp>
        <p:nvSpPr>
          <p:cNvPr id="136" name="object 7"/>
          <p:cNvSpPr txBox="1"/>
          <p:nvPr/>
        </p:nvSpPr>
        <p:spPr>
          <a:xfrm>
            <a:off x="1128240" y="1791360"/>
            <a:ext cx="235801" cy="1002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137" name="object 8"/>
          <p:cNvSpPr txBox="1"/>
          <p:nvPr/>
        </p:nvSpPr>
        <p:spPr>
          <a:xfrm>
            <a:off x="1356840" y="1756799"/>
            <a:ext cx="2329561" cy="443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O(k) lookup time (k = word length)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Efficient prefix matching</a:t>
            </a:r>
          </a:p>
        </p:txBody>
      </p:sp>
      <p:sp>
        <p:nvSpPr>
          <p:cNvPr id="138" name="object 9"/>
          <p:cNvSpPr txBox="1"/>
          <p:nvPr/>
        </p:nvSpPr>
        <p:spPr>
          <a:xfrm>
            <a:off x="1356840" y="2336400"/>
            <a:ext cx="2583001" cy="443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Enables fuzzy search with edit distance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Scales well for large dictionaries</a:t>
            </a:r>
          </a:p>
        </p:txBody>
      </p:sp>
      <p:sp>
        <p:nvSpPr>
          <p:cNvPr id="139" name="object 10"/>
          <p:cNvSpPr txBox="1"/>
          <p:nvPr/>
        </p:nvSpPr>
        <p:spPr>
          <a:xfrm>
            <a:off x="899640" y="2916359"/>
            <a:ext cx="7315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Structure:</a:t>
            </a:r>
          </a:p>
        </p:txBody>
      </p:sp>
      <p:sp>
        <p:nvSpPr>
          <p:cNvPr id="140" name="object 11"/>
          <p:cNvSpPr txBox="1"/>
          <p:nvPr/>
        </p:nvSpPr>
        <p:spPr>
          <a:xfrm>
            <a:off x="899640" y="3188160"/>
            <a:ext cx="3224521" cy="981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TrieNode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char ch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bool isWord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int frequency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LinkedList&lt;ChildEntry&gt; children (sorted)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279360"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└──</a:t>
            </a:r>
            <a:r>
              <a:rPr spc="29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ChildEntry</a:t>
            </a:r>
          </a:p>
        </p:txBody>
      </p:sp>
      <p:sp>
        <p:nvSpPr>
          <p:cNvPr id="141" name="object 12"/>
          <p:cNvSpPr txBox="1"/>
          <p:nvPr/>
        </p:nvSpPr>
        <p:spPr>
          <a:xfrm>
            <a:off x="1458359" y="4080600"/>
            <a:ext cx="1409042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├──</a:t>
            </a:r>
            <a:r>
              <a:rPr spc="29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char ch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└──</a:t>
            </a:r>
            <a:r>
              <a:rPr spc="29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TrieNode* node</a:t>
            </a:r>
          </a:p>
        </p:txBody>
      </p:sp>
      <p:sp>
        <p:nvSpPr>
          <p:cNvPr id="142" name="object 13"/>
          <p:cNvSpPr txBox="1"/>
          <p:nvPr/>
        </p:nvSpPr>
        <p:spPr>
          <a:xfrm>
            <a:off x="899640" y="4479480"/>
            <a:ext cx="10036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Optimizations:</a:t>
            </a:r>
          </a:p>
        </p:txBody>
      </p:sp>
      <p:sp>
        <p:nvSpPr>
          <p:cNvPr id="143" name="object 14"/>
          <p:cNvSpPr txBox="1"/>
          <p:nvPr/>
        </p:nvSpPr>
        <p:spPr>
          <a:xfrm>
            <a:off x="1128240" y="4786200"/>
            <a:ext cx="235801" cy="7226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144" name="object 15"/>
          <p:cNvSpPr txBox="1"/>
          <p:nvPr/>
        </p:nvSpPr>
        <p:spPr>
          <a:xfrm>
            <a:off x="1356840" y="4751639"/>
            <a:ext cx="3241081" cy="710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Sorted children list for early exit in getChild()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insertSorted() maintains order during construction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Designed for 100K+ dictionary challenge</a:t>
            </a:r>
          </a:p>
        </p:txBody>
      </p:sp>
      <p:sp>
        <p:nvSpPr>
          <p:cNvPr id="145" name="object 16"/>
          <p:cNvSpPr txBox="1"/>
          <p:nvPr/>
        </p:nvSpPr>
        <p:spPr>
          <a:xfrm>
            <a:off x="899640" y="5621399"/>
            <a:ext cx="8460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Complexity:</a:t>
            </a:r>
          </a:p>
        </p:txBody>
      </p:sp>
      <p:sp>
        <p:nvSpPr>
          <p:cNvPr id="146" name="object 17"/>
          <p:cNvSpPr txBox="1"/>
          <p:nvPr/>
        </p:nvSpPr>
        <p:spPr>
          <a:xfrm>
            <a:off x="1128240" y="591011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147" name="object 18"/>
          <p:cNvSpPr txBox="1"/>
          <p:nvPr/>
        </p:nvSpPr>
        <p:spPr>
          <a:xfrm>
            <a:off x="1356840" y="5893560"/>
            <a:ext cx="40096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Insert: </a:t>
            </a:r>
            <a:r>
              <a:rPr b="0"/>
              <a:t>O(k) where k = word length (optimized with sorted insertion)</a:t>
            </a:r>
          </a:p>
        </p:txBody>
      </p:sp>
      <p:sp>
        <p:nvSpPr>
          <p:cNvPr id="148" name="object 19"/>
          <p:cNvSpPr txBox="1"/>
          <p:nvPr/>
        </p:nvSpPr>
        <p:spPr>
          <a:xfrm>
            <a:off x="1356840" y="6165720"/>
            <a:ext cx="3885120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Search: </a:t>
            </a:r>
            <a:r>
              <a:rPr b="0"/>
              <a:t>O(k) where k = word length (early exit for sorted children)</a:t>
            </a:r>
          </a:p>
        </p:txBody>
      </p:sp>
      <p:sp>
        <p:nvSpPr>
          <p:cNvPr id="149" name="object 20"/>
          <p:cNvSpPr txBox="1"/>
          <p:nvPr/>
        </p:nvSpPr>
        <p:spPr>
          <a:xfrm>
            <a:off x="1356840" y="6437879"/>
            <a:ext cx="26888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Space: </a:t>
            </a:r>
            <a:r>
              <a:rPr b="0"/>
              <a:t>O(ALPHABET_SIZE × N × k) worst case</a:t>
            </a:r>
          </a:p>
        </p:txBody>
      </p:sp>
      <p:sp>
        <p:nvSpPr>
          <p:cNvPr id="150" name="object 21"/>
          <p:cNvSpPr txBox="1"/>
          <p:nvPr/>
        </p:nvSpPr>
        <p:spPr>
          <a:xfrm>
            <a:off x="899640" y="6709680"/>
            <a:ext cx="10677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Visual Example:</a:t>
            </a:r>
          </a:p>
        </p:txBody>
      </p:sp>
      <p:sp>
        <p:nvSpPr>
          <p:cNvPr id="151" name="object 22"/>
          <p:cNvSpPr txBox="1"/>
          <p:nvPr/>
        </p:nvSpPr>
        <p:spPr>
          <a:xfrm>
            <a:off x="1388519" y="6981839"/>
            <a:ext cx="640802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69840"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(root)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/</a:t>
            </a:r>
            <a:r>
              <a:rPr spc="547"/>
              <a:t> </a:t>
            </a:r>
            <a:r>
              <a:t>|</a:t>
            </a:r>
            <a:r>
              <a:rPr spc="547"/>
              <a:t> </a:t>
            </a:r>
            <a:r>
              <a:t>\</a:t>
            </a:r>
          </a:p>
        </p:txBody>
      </p:sp>
      <p:sp>
        <p:nvSpPr>
          <p:cNvPr id="152" name="object 23"/>
          <p:cNvSpPr txBox="1"/>
          <p:nvPr/>
        </p:nvSpPr>
        <p:spPr>
          <a:xfrm>
            <a:off x="1318679" y="7279560"/>
            <a:ext cx="78048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t</a:t>
            </a:r>
            <a:r>
              <a:rPr spc="1098"/>
              <a:t> </a:t>
            </a:r>
            <a:r>
              <a:t>h</a:t>
            </a:r>
            <a:r>
              <a:rPr spc="1098"/>
              <a:t> </a:t>
            </a:r>
            <a:r>
              <a:t>w</a:t>
            </a:r>
          </a:p>
        </p:txBody>
      </p:sp>
      <p:sp>
        <p:nvSpPr>
          <p:cNvPr id="153" name="object 24"/>
          <p:cNvSpPr txBox="1"/>
          <p:nvPr/>
        </p:nvSpPr>
        <p:spPr>
          <a:xfrm>
            <a:off x="1248839" y="7428240"/>
            <a:ext cx="2217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/</a:t>
            </a:r>
          </a:p>
        </p:txBody>
      </p:sp>
      <p:sp>
        <p:nvSpPr>
          <p:cNvPr id="154" name="object 25"/>
          <p:cNvSpPr txBox="1"/>
          <p:nvPr/>
        </p:nvSpPr>
        <p:spPr>
          <a:xfrm>
            <a:off x="1598039" y="7428240"/>
            <a:ext cx="221761" cy="9812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|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|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r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|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|</a:t>
            </a:r>
          </a:p>
        </p:txBody>
      </p:sp>
      <p:sp>
        <p:nvSpPr>
          <p:cNvPr id="155" name="object 26"/>
          <p:cNvSpPr txBox="1"/>
          <p:nvPr/>
        </p:nvSpPr>
        <p:spPr>
          <a:xfrm>
            <a:off x="1947240" y="7428240"/>
            <a:ext cx="2217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\</a:t>
            </a:r>
          </a:p>
        </p:txBody>
      </p:sp>
      <p:sp>
        <p:nvSpPr>
          <p:cNvPr id="156" name="object 27"/>
          <p:cNvSpPr txBox="1"/>
          <p:nvPr/>
        </p:nvSpPr>
        <p:spPr>
          <a:xfrm>
            <a:off x="1179000" y="7576919"/>
            <a:ext cx="2217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h</a:t>
            </a:r>
          </a:p>
        </p:txBody>
      </p:sp>
      <p:sp>
        <p:nvSpPr>
          <p:cNvPr id="157" name="object 28"/>
          <p:cNvSpPr txBox="1"/>
          <p:nvPr/>
        </p:nvSpPr>
        <p:spPr>
          <a:xfrm>
            <a:off x="2017079" y="7576919"/>
            <a:ext cx="2217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o</a:t>
            </a:r>
          </a:p>
        </p:txBody>
      </p:sp>
      <p:sp>
        <p:nvSpPr>
          <p:cNvPr id="158" name="object 29"/>
          <p:cNvSpPr txBox="1"/>
          <p:nvPr/>
        </p:nvSpPr>
        <p:spPr>
          <a:xfrm>
            <a:off x="1109160" y="7725599"/>
            <a:ext cx="2217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/</a:t>
            </a:r>
          </a:p>
        </p:txBody>
      </p:sp>
      <p:sp>
        <p:nvSpPr>
          <p:cNvPr id="159" name="object 30"/>
          <p:cNvSpPr txBox="1"/>
          <p:nvPr/>
        </p:nvSpPr>
        <p:spPr>
          <a:xfrm>
            <a:off x="2086919" y="7725599"/>
            <a:ext cx="2217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\</a:t>
            </a:r>
          </a:p>
        </p:txBody>
      </p:sp>
      <p:sp>
        <p:nvSpPr>
          <p:cNvPr id="160" name="object 31"/>
          <p:cNvSpPr txBox="1"/>
          <p:nvPr/>
        </p:nvSpPr>
        <p:spPr>
          <a:xfrm>
            <a:off x="969479" y="7874279"/>
            <a:ext cx="36144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69840"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/ \</a:t>
            </a:r>
          </a:p>
        </p:txBody>
      </p:sp>
      <p:sp>
        <p:nvSpPr>
          <p:cNvPr id="161" name="object 32"/>
          <p:cNvSpPr txBox="1"/>
          <p:nvPr/>
        </p:nvSpPr>
        <p:spPr>
          <a:xfrm>
            <a:off x="2156760" y="7874279"/>
            <a:ext cx="2217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r</a:t>
            </a:r>
          </a:p>
        </p:txBody>
      </p:sp>
      <p:sp>
        <p:nvSpPr>
          <p:cNvPr id="162" name="object 33"/>
          <p:cNvSpPr txBox="1"/>
          <p:nvPr/>
        </p:nvSpPr>
        <p:spPr>
          <a:xfrm>
            <a:off x="2226599" y="8022959"/>
            <a:ext cx="2217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\</a:t>
            </a:r>
          </a:p>
        </p:txBody>
      </p:sp>
      <p:sp>
        <p:nvSpPr>
          <p:cNvPr id="163" name="object 34"/>
          <p:cNvSpPr txBox="1"/>
          <p:nvPr/>
        </p:nvSpPr>
        <p:spPr>
          <a:xfrm>
            <a:off x="899640" y="8171639"/>
            <a:ext cx="50112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i</a:t>
            </a:r>
            <a:r>
              <a:rPr spc="1098"/>
              <a:t> </a:t>
            </a:r>
            <a:r>
              <a:t>e</a:t>
            </a:r>
          </a:p>
        </p:txBody>
      </p:sp>
      <p:sp>
        <p:nvSpPr>
          <p:cNvPr id="164" name="object 35"/>
          <p:cNvSpPr txBox="1"/>
          <p:nvPr/>
        </p:nvSpPr>
        <p:spPr>
          <a:xfrm>
            <a:off x="2296440" y="8171639"/>
            <a:ext cx="2217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l</a:t>
            </a:r>
          </a:p>
        </p:txBody>
      </p:sp>
      <p:sp>
        <p:nvSpPr>
          <p:cNvPr id="165" name="object 36"/>
          <p:cNvSpPr txBox="1"/>
          <p:nvPr/>
        </p:nvSpPr>
        <p:spPr>
          <a:xfrm>
            <a:off x="899640" y="8320320"/>
            <a:ext cx="1339201" cy="42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|</a:t>
            </a:r>
            <a:r>
              <a:rPr spc="1098"/>
              <a:t> </a:t>
            </a:r>
            <a:r>
              <a:t>|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r</a:t>
            </a:r>
            <a:r>
              <a:rPr spc="1098"/>
              <a:t> </a:t>
            </a:r>
            <a:r>
              <a:t>(word) (word)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|</a:t>
            </a:r>
          </a:p>
        </p:txBody>
      </p:sp>
      <p:sp>
        <p:nvSpPr>
          <p:cNvPr id="166" name="object 37"/>
          <p:cNvSpPr txBox="1"/>
          <p:nvPr/>
        </p:nvSpPr>
        <p:spPr>
          <a:xfrm>
            <a:off x="2366279" y="8320320"/>
            <a:ext cx="221761" cy="143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\</a:t>
            </a:r>
          </a:p>
        </p:txBody>
      </p:sp>
      <p:sp>
        <p:nvSpPr>
          <p:cNvPr id="167" name="object 38"/>
          <p:cNvSpPr txBox="1"/>
          <p:nvPr/>
        </p:nvSpPr>
        <p:spPr>
          <a:xfrm>
            <a:off x="2436119" y="8469000"/>
            <a:ext cx="22176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d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|</a:t>
            </a:r>
          </a:p>
        </p:txBody>
      </p:sp>
      <p:sp>
        <p:nvSpPr>
          <p:cNvPr id="168" name="object 39"/>
          <p:cNvSpPr txBox="1"/>
          <p:nvPr/>
        </p:nvSpPr>
        <p:spPr>
          <a:xfrm>
            <a:off x="899640" y="8766360"/>
            <a:ext cx="5709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(word)</a:t>
            </a:r>
          </a:p>
        </p:txBody>
      </p:sp>
      <p:sp>
        <p:nvSpPr>
          <p:cNvPr id="169" name="object 40"/>
          <p:cNvSpPr txBox="1"/>
          <p:nvPr/>
        </p:nvSpPr>
        <p:spPr>
          <a:xfrm>
            <a:off x="2366279" y="8766360"/>
            <a:ext cx="57096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(word)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object 1"/>
          <p:cNvSpPr/>
          <p:nvPr/>
        </p:nvSpPr>
        <p:spPr>
          <a:xfrm>
            <a:off x="899639" y="6801839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2" name="object 2"/>
          <p:cNvSpPr/>
          <p:nvPr/>
        </p:nvSpPr>
        <p:spPr>
          <a:xfrm>
            <a:off x="899639" y="101952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3" name="object 5"/>
          <p:cNvSpPr txBox="1"/>
          <p:nvPr/>
        </p:nvSpPr>
        <p:spPr>
          <a:xfrm>
            <a:off x="899640" y="1228680"/>
            <a:ext cx="2988361" cy="190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6: Data Structures - LinkedList</a:t>
            </a:r>
          </a:p>
        </p:txBody>
      </p:sp>
      <p:sp>
        <p:nvSpPr>
          <p:cNvPr id="174" name="object 6"/>
          <p:cNvSpPr txBox="1"/>
          <p:nvPr/>
        </p:nvSpPr>
        <p:spPr>
          <a:xfrm>
            <a:off x="899640" y="1585079"/>
            <a:ext cx="2051641" cy="177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Custom Singly Linked List</a:t>
            </a:r>
          </a:p>
        </p:txBody>
      </p:sp>
      <p:sp>
        <p:nvSpPr>
          <p:cNvPr id="175" name="object 7"/>
          <p:cNvSpPr txBox="1"/>
          <p:nvPr/>
        </p:nvSpPr>
        <p:spPr>
          <a:xfrm>
            <a:off x="899640" y="1807560"/>
            <a:ext cx="10944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Why LinkedList?</a:t>
            </a:r>
          </a:p>
        </p:txBody>
      </p:sp>
      <p:sp>
        <p:nvSpPr>
          <p:cNvPr id="176" name="object 8"/>
          <p:cNvSpPr txBox="1"/>
          <p:nvPr/>
        </p:nvSpPr>
        <p:spPr>
          <a:xfrm>
            <a:off x="1128240" y="2114280"/>
            <a:ext cx="235801" cy="1002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177" name="object 9"/>
          <p:cNvSpPr txBox="1"/>
          <p:nvPr/>
        </p:nvSpPr>
        <p:spPr>
          <a:xfrm>
            <a:off x="1356840" y="2079719"/>
            <a:ext cx="2196721" cy="177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100"/>
            </a:lvl1pPr>
          </a:lstStyle>
          <a:p>
            <a:pPr>
              <a:defRPr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Dynamic size (no pre-allocation)</a:t>
            </a:r>
          </a:p>
        </p:txBody>
      </p:sp>
      <p:sp>
        <p:nvSpPr>
          <p:cNvPr id="178" name="object 10"/>
          <p:cNvSpPr txBox="1"/>
          <p:nvPr/>
        </p:nvSpPr>
        <p:spPr>
          <a:xfrm>
            <a:off x="1356840" y="2369520"/>
            <a:ext cx="2675161" cy="710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Pointer-based (course requirement)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Memory efficient for sparse children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No STL containers (custom requirement)</a:t>
            </a:r>
          </a:p>
        </p:txBody>
      </p:sp>
      <p:sp>
        <p:nvSpPr>
          <p:cNvPr id="179" name="object 11"/>
          <p:cNvSpPr txBox="1"/>
          <p:nvPr/>
        </p:nvSpPr>
        <p:spPr>
          <a:xfrm>
            <a:off x="899640" y="3239279"/>
            <a:ext cx="7315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Structure:</a:t>
            </a:r>
          </a:p>
        </p:txBody>
      </p:sp>
      <p:sp>
        <p:nvSpPr>
          <p:cNvPr id="180" name="object 14"/>
          <p:cNvSpPr txBox="1"/>
          <p:nvPr/>
        </p:nvSpPr>
        <p:spPr>
          <a:xfrm>
            <a:off x="899640" y="4505040"/>
            <a:ext cx="8373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Operations:</a:t>
            </a:r>
          </a:p>
        </p:txBody>
      </p:sp>
      <p:sp>
        <p:nvSpPr>
          <p:cNvPr id="181" name="object 15"/>
          <p:cNvSpPr txBox="1"/>
          <p:nvPr/>
        </p:nvSpPr>
        <p:spPr>
          <a:xfrm>
            <a:off x="1128240" y="4794120"/>
            <a:ext cx="235801" cy="163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-</a:t>
            </a:r>
          </a:p>
        </p:txBody>
      </p:sp>
      <p:sp>
        <p:nvSpPr>
          <p:cNvPr id="182" name="object 16"/>
          <p:cNvSpPr txBox="1"/>
          <p:nvPr/>
        </p:nvSpPr>
        <p:spPr>
          <a:xfrm>
            <a:off x="1356840" y="4777199"/>
            <a:ext cx="17020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Append: </a:t>
            </a:r>
            <a:r>
              <a:rPr b="0"/>
              <a:t>O(n) - adds to end</a:t>
            </a:r>
          </a:p>
        </p:txBody>
      </p:sp>
      <p:sp>
        <p:nvSpPr>
          <p:cNvPr id="183" name="object 17"/>
          <p:cNvSpPr txBox="1"/>
          <p:nvPr/>
        </p:nvSpPr>
        <p:spPr>
          <a:xfrm>
            <a:off x="1128240" y="5065919"/>
            <a:ext cx="235801" cy="163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-</a:t>
            </a:r>
          </a:p>
        </p:txBody>
      </p:sp>
      <p:sp>
        <p:nvSpPr>
          <p:cNvPr id="184" name="object 18"/>
          <p:cNvSpPr txBox="1"/>
          <p:nvPr/>
        </p:nvSpPr>
        <p:spPr>
          <a:xfrm>
            <a:off x="1356840" y="5049360"/>
            <a:ext cx="24084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Find: </a:t>
            </a:r>
            <a:r>
              <a:rPr b="0"/>
              <a:t>O(n) - linear search with predicate</a:t>
            </a:r>
          </a:p>
        </p:txBody>
      </p:sp>
      <p:sp>
        <p:nvSpPr>
          <p:cNvPr id="185" name="object 19"/>
          <p:cNvSpPr txBox="1"/>
          <p:nvPr/>
        </p:nvSpPr>
        <p:spPr>
          <a:xfrm>
            <a:off x="1128240" y="5338079"/>
            <a:ext cx="235801" cy="163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-</a:t>
            </a:r>
          </a:p>
        </p:txBody>
      </p:sp>
      <p:sp>
        <p:nvSpPr>
          <p:cNvPr id="186" name="object 20"/>
          <p:cNvSpPr txBox="1"/>
          <p:nvPr/>
        </p:nvSpPr>
        <p:spPr>
          <a:xfrm>
            <a:off x="1356840" y="5321520"/>
            <a:ext cx="20595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Clear: </a:t>
            </a:r>
            <a:r>
              <a:rPr b="0"/>
              <a:t>O(n) - deallocates all nodes</a:t>
            </a:r>
          </a:p>
        </p:txBody>
      </p:sp>
      <p:sp>
        <p:nvSpPr>
          <p:cNvPr id="187" name="object 21"/>
          <p:cNvSpPr txBox="1"/>
          <p:nvPr/>
        </p:nvSpPr>
        <p:spPr>
          <a:xfrm>
            <a:off x="899640" y="5593679"/>
            <a:ext cx="5428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Usage:</a:t>
            </a:r>
          </a:p>
        </p:txBody>
      </p:sp>
      <p:sp>
        <p:nvSpPr>
          <p:cNvPr id="188" name="object 22"/>
          <p:cNvSpPr txBox="1"/>
          <p:nvPr/>
        </p:nvSpPr>
        <p:spPr>
          <a:xfrm>
            <a:off x="1128240" y="588239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189" name="object 23"/>
          <p:cNvSpPr txBox="1"/>
          <p:nvPr/>
        </p:nvSpPr>
        <p:spPr>
          <a:xfrm>
            <a:off x="1356840" y="5865840"/>
            <a:ext cx="2189881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Stores children of each Trie node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Enables dynamic child management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Supports predicate-based search</a:t>
            </a:r>
          </a:p>
        </p:txBody>
      </p:sp>
      <p:sp>
        <p:nvSpPr>
          <p:cNvPr id="190" name="object 24"/>
          <p:cNvSpPr txBox="1"/>
          <p:nvPr/>
        </p:nvSpPr>
        <p:spPr>
          <a:xfrm>
            <a:off x="899640" y="7010999"/>
            <a:ext cx="3403441" cy="190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7: Algorithm - Levenshtein Distance</a:t>
            </a:r>
          </a:p>
        </p:txBody>
      </p:sp>
      <p:sp>
        <p:nvSpPr>
          <p:cNvPr id="191" name="object 25"/>
          <p:cNvSpPr txBox="1"/>
          <p:nvPr/>
        </p:nvSpPr>
        <p:spPr>
          <a:xfrm>
            <a:off x="899640" y="7367399"/>
            <a:ext cx="186804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Edit Distance Algorithm</a:t>
            </a:r>
          </a:p>
        </p:txBody>
      </p:sp>
      <p:sp>
        <p:nvSpPr>
          <p:cNvPr id="192" name="object 26"/>
          <p:cNvSpPr txBox="1"/>
          <p:nvPr/>
        </p:nvSpPr>
        <p:spPr>
          <a:xfrm>
            <a:off x="899640" y="7589880"/>
            <a:ext cx="4091400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Purpose: </a:t>
            </a:r>
            <a:r>
              <a:rPr b="0"/>
              <a:t>Calculate minimum edits to transform one string to another</a:t>
            </a:r>
          </a:p>
        </p:txBody>
      </p:sp>
      <p:sp>
        <p:nvSpPr>
          <p:cNvPr id="193" name="object 27"/>
          <p:cNvSpPr txBox="1"/>
          <p:nvPr/>
        </p:nvSpPr>
        <p:spPr>
          <a:xfrm>
            <a:off x="899640" y="7862040"/>
            <a:ext cx="8373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Operations:</a:t>
            </a:r>
          </a:p>
        </p:txBody>
      </p:sp>
      <p:sp>
        <p:nvSpPr>
          <p:cNvPr id="194" name="object 28"/>
          <p:cNvSpPr txBox="1"/>
          <p:nvPr/>
        </p:nvSpPr>
        <p:spPr>
          <a:xfrm>
            <a:off x="1128240" y="815075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195" name="object 29"/>
          <p:cNvSpPr txBox="1"/>
          <p:nvPr/>
        </p:nvSpPr>
        <p:spPr>
          <a:xfrm>
            <a:off x="1356840" y="8134199"/>
            <a:ext cx="15602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Insertion (add character)</a:t>
            </a:r>
          </a:p>
        </p:txBody>
      </p:sp>
      <p:sp>
        <p:nvSpPr>
          <p:cNvPr id="196" name="object 30"/>
          <p:cNvSpPr txBox="1"/>
          <p:nvPr/>
        </p:nvSpPr>
        <p:spPr>
          <a:xfrm>
            <a:off x="1356840" y="8406359"/>
            <a:ext cx="194904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Deletion (remove character)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Substitution (replace character)</a:t>
            </a:r>
          </a:p>
        </p:txBody>
      </p:sp>
      <p:pic>
        <p:nvPicPr>
          <p:cNvPr id="197" name="image7.png" descr="image7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99279" y="3439440"/>
            <a:ext cx="5783762" cy="13327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object 1"/>
          <p:cNvSpPr/>
          <p:nvPr/>
        </p:nvSpPr>
        <p:spPr>
          <a:xfrm>
            <a:off x="899639" y="481068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00" name="object 12"/>
          <p:cNvSpPr txBox="1"/>
          <p:nvPr/>
        </p:nvSpPr>
        <p:spPr>
          <a:xfrm>
            <a:off x="899640" y="2785679"/>
            <a:ext cx="9478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Optimization:</a:t>
            </a:r>
          </a:p>
        </p:txBody>
      </p:sp>
      <p:sp>
        <p:nvSpPr>
          <p:cNvPr id="201" name="object 13"/>
          <p:cNvSpPr txBox="1"/>
          <p:nvPr/>
        </p:nvSpPr>
        <p:spPr>
          <a:xfrm>
            <a:off x="1128240" y="307475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02" name="object 14"/>
          <p:cNvSpPr txBox="1"/>
          <p:nvPr/>
        </p:nvSpPr>
        <p:spPr>
          <a:xfrm>
            <a:off x="1356840" y="3057839"/>
            <a:ext cx="258408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Early termination when distance &gt; maxDist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Row-min pruning for efficiency</a:t>
            </a:r>
          </a:p>
        </p:txBody>
      </p:sp>
      <p:sp>
        <p:nvSpPr>
          <p:cNvPr id="203" name="object 15"/>
          <p:cNvSpPr txBox="1"/>
          <p:nvPr/>
        </p:nvSpPr>
        <p:spPr>
          <a:xfrm>
            <a:off x="1356840" y="3602159"/>
            <a:ext cx="25308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Two-row space optimization: O(min(m,n))</a:t>
            </a:r>
          </a:p>
        </p:txBody>
      </p:sp>
      <p:sp>
        <p:nvSpPr>
          <p:cNvPr id="204" name="object 16"/>
          <p:cNvSpPr txBox="1"/>
          <p:nvPr/>
        </p:nvSpPr>
        <p:spPr>
          <a:xfrm>
            <a:off x="899640" y="3874320"/>
            <a:ext cx="8460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Complexity:</a:t>
            </a:r>
          </a:p>
        </p:txBody>
      </p:sp>
      <p:sp>
        <p:nvSpPr>
          <p:cNvPr id="205" name="object 17"/>
          <p:cNvSpPr txBox="1"/>
          <p:nvPr/>
        </p:nvSpPr>
        <p:spPr>
          <a:xfrm>
            <a:off x="1128240" y="4163400"/>
            <a:ext cx="235801" cy="430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06" name="object 18"/>
          <p:cNvSpPr txBox="1"/>
          <p:nvPr/>
        </p:nvSpPr>
        <p:spPr>
          <a:xfrm>
            <a:off x="1356840" y="4146479"/>
            <a:ext cx="329796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Time: </a:t>
            </a:r>
            <a:r>
              <a:rPr b="0"/>
              <a:t>O(m×n) worst case, O(m×maxDist) with early exit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b="1" spc="-1" sz="1100"/>
            </a:pPr>
            <a:r>
              <a:t>Space: </a:t>
            </a:r>
            <a:r>
              <a:rPr b="0"/>
              <a:t>O(min(m,n)) with optimization</a:t>
            </a:r>
          </a:p>
        </p:txBody>
      </p:sp>
      <p:sp>
        <p:nvSpPr>
          <p:cNvPr id="207" name="object 19"/>
          <p:cNvSpPr txBox="1"/>
          <p:nvPr/>
        </p:nvSpPr>
        <p:spPr>
          <a:xfrm>
            <a:off x="899640" y="5019480"/>
            <a:ext cx="2790360" cy="190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8: Algorithm - Fuzzy Search</a:t>
            </a:r>
          </a:p>
        </p:txBody>
      </p:sp>
      <p:sp>
        <p:nvSpPr>
          <p:cNvPr id="208" name="object 20"/>
          <p:cNvSpPr txBox="1"/>
          <p:nvPr/>
        </p:nvSpPr>
        <p:spPr>
          <a:xfrm>
            <a:off x="899640" y="5375879"/>
            <a:ext cx="2079001" cy="177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Trie-Guided Fuzzy Search</a:t>
            </a:r>
          </a:p>
        </p:txBody>
      </p:sp>
      <p:sp>
        <p:nvSpPr>
          <p:cNvPr id="209" name="object 21"/>
          <p:cNvSpPr txBox="1"/>
          <p:nvPr/>
        </p:nvSpPr>
        <p:spPr>
          <a:xfrm>
            <a:off x="899640" y="5598719"/>
            <a:ext cx="33480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Problem: </a:t>
            </a:r>
            <a:r>
              <a:rPr b="0"/>
              <a:t>Find all dictionary words within edit distance k</a:t>
            </a:r>
          </a:p>
        </p:txBody>
      </p:sp>
      <p:sp>
        <p:nvSpPr>
          <p:cNvPr id="210" name="object 22"/>
          <p:cNvSpPr txBox="1"/>
          <p:nvPr/>
        </p:nvSpPr>
        <p:spPr>
          <a:xfrm>
            <a:off x="899640" y="5870519"/>
            <a:ext cx="3719160" cy="713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b="1" spc="-1" sz="1100"/>
            </a:pPr>
            <a:r>
              <a:t>Naive Approach: </a:t>
            </a:r>
            <a:r>
              <a:rPr b="0"/>
              <a:t>Check every word →</a:t>
            </a:r>
            <a:r>
              <a:rPr b="0"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0"/>
              <a:t>O(N × m×n)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b="1" spc="-1" sz="1100"/>
            </a:pPr>
            <a:r>
              <a:t>Our Solution: </a:t>
            </a:r>
            <a:r>
              <a:rPr b="0"/>
              <a:t>Recursive Trie traversal with DP row tracking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b="1" spc="-1" sz="1100"/>
            </a:pPr>
            <a:r>
              <a:t>Algorithm:</a:t>
            </a:r>
          </a:p>
        </p:txBody>
      </p:sp>
      <p:sp>
        <p:nvSpPr>
          <p:cNvPr id="211" name="object 28"/>
          <p:cNvSpPr txBox="1"/>
          <p:nvPr/>
        </p:nvSpPr>
        <p:spPr>
          <a:xfrm>
            <a:off x="899640" y="8162639"/>
            <a:ext cx="9374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Key Features:</a:t>
            </a:r>
          </a:p>
        </p:txBody>
      </p:sp>
      <p:sp>
        <p:nvSpPr>
          <p:cNvPr id="212" name="object 29"/>
          <p:cNvSpPr txBox="1"/>
          <p:nvPr/>
        </p:nvSpPr>
        <p:spPr>
          <a:xfrm>
            <a:off x="1128240" y="8451360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13" name="object 30"/>
          <p:cNvSpPr txBox="1"/>
          <p:nvPr/>
        </p:nvSpPr>
        <p:spPr>
          <a:xfrm>
            <a:off x="1356840" y="8434799"/>
            <a:ext cx="2294280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DP row computed per trie depth level</a:t>
            </a:r>
          </a:p>
        </p:txBody>
      </p:sp>
      <p:sp>
        <p:nvSpPr>
          <p:cNvPr id="214" name="object 31"/>
          <p:cNvSpPr txBox="1"/>
          <p:nvPr/>
        </p:nvSpPr>
        <p:spPr>
          <a:xfrm>
            <a:off x="1356840" y="8706600"/>
            <a:ext cx="321264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Pruning: Skip branches where rowMin &gt; maxDist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Ranking: Primary by distance, secondary by frequency</a:t>
            </a:r>
          </a:p>
        </p:txBody>
      </p:sp>
      <p:pic>
        <p:nvPicPr>
          <p:cNvPr id="215" name="image8.png" descr="image8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89480" y="680039"/>
            <a:ext cx="6671881" cy="1981082"/>
          </a:xfrm>
          <a:prstGeom prst="rect">
            <a:avLst/>
          </a:prstGeom>
          <a:ln w="12700">
            <a:miter lim="400000"/>
          </a:ln>
        </p:spPr>
      </p:pic>
      <p:sp>
        <p:nvSpPr>
          <p:cNvPr id="216" name="object 44"/>
          <p:cNvSpPr txBox="1"/>
          <p:nvPr/>
        </p:nvSpPr>
        <p:spPr>
          <a:xfrm>
            <a:off x="862199" y="369000"/>
            <a:ext cx="2106722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Dynamic Programming Approach:</a:t>
            </a:r>
          </a:p>
        </p:txBody>
      </p:sp>
      <p:pic>
        <p:nvPicPr>
          <p:cNvPr id="217" name="image9.png" descr="image9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49519" y="6683399"/>
            <a:ext cx="6633001" cy="147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object 1"/>
          <p:cNvSpPr/>
          <p:nvPr/>
        </p:nvSpPr>
        <p:spPr>
          <a:xfrm>
            <a:off x="899639" y="901944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0" name="object 2"/>
          <p:cNvSpPr/>
          <p:nvPr/>
        </p:nvSpPr>
        <p:spPr>
          <a:xfrm>
            <a:off x="899639" y="238032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1" name="object 5"/>
          <p:cNvSpPr txBox="1"/>
          <p:nvPr/>
        </p:nvSpPr>
        <p:spPr>
          <a:xfrm>
            <a:off x="899639" y="899640"/>
            <a:ext cx="2386082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Complexity: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457200">
              <a:lnSpc>
                <a:spcPts val="1300"/>
              </a:lnSpc>
              <a:spcBef>
                <a:spcPts val="800"/>
              </a:spcBef>
              <a:defRPr b="1" spc="-1" sz="1100"/>
            </a:pPr>
            <a:r>
              <a:t>Time: </a:t>
            </a:r>
            <a:r>
              <a:rPr b="0"/>
              <a:t>O(α</a:t>
            </a:r>
            <a:r>
              <a:rPr b="0"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0"/>
              <a:t>× k × |dict-prefixes|)</a:t>
            </a:r>
          </a:p>
        </p:txBody>
      </p:sp>
      <p:sp>
        <p:nvSpPr>
          <p:cNvPr id="222" name="object 6"/>
          <p:cNvSpPr txBox="1"/>
          <p:nvPr/>
        </p:nvSpPr>
        <p:spPr>
          <a:xfrm>
            <a:off x="1128240" y="1188719"/>
            <a:ext cx="235801" cy="163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-</a:t>
            </a:r>
          </a:p>
        </p:txBody>
      </p:sp>
      <p:sp>
        <p:nvSpPr>
          <p:cNvPr id="223" name="object 7"/>
          <p:cNvSpPr txBox="1"/>
          <p:nvPr/>
        </p:nvSpPr>
        <p:spPr>
          <a:xfrm>
            <a:off x="1585440" y="146087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</a:p>
        </p:txBody>
      </p:sp>
      <p:sp>
        <p:nvSpPr>
          <p:cNvPr id="224" name="object 8"/>
          <p:cNvSpPr txBox="1"/>
          <p:nvPr/>
        </p:nvSpPr>
        <p:spPr>
          <a:xfrm>
            <a:off x="1814040" y="1443960"/>
            <a:ext cx="11095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α</a:t>
            </a: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= alphabet size</a:t>
            </a:r>
          </a:p>
        </p:txBody>
      </p:sp>
      <p:sp>
        <p:nvSpPr>
          <p:cNvPr id="225" name="object 9"/>
          <p:cNvSpPr txBox="1"/>
          <p:nvPr/>
        </p:nvSpPr>
        <p:spPr>
          <a:xfrm>
            <a:off x="1814040" y="1716120"/>
            <a:ext cx="13482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k = max edit distance</a:t>
            </a:r>
          </a:p>
        </p:txBody>
      </p:sp>
      <p:sp>
        <p:nvSpPr>
          <p:cNvPr id="226" name="object 10"/>
          <p:cNvSpPr txBox="1"/>
          <p:nvPr/>
        </p:nvSpPr>
        <p:spPr>
          <a:xfrm>
            <a:off x="1814040" y="1988279"/>
            <a:ext cx="29368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|dict-prefixes| = number of prefixes in dictionary</a:t>
            </a:r>
          </a:p>
        </p:txBody>
      </p:sp>
      <p:sp>
        <p:nvSpPr>
          <p:cNvPr id="227" name="object 11"/>
          <p:cNvSpPr txBox="1"/>
          <p:nvPr/>
        </p:nvSpPr>
        <p:spPr>
          <a:xfrm>
            <a:off x="899640" y="2589120"/>
            <a:ext cx="3660481" cy="190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9: Module Implementation - Core Logic</a:t>
            </a:r>
          </a:p>
        </p:txBody>
      </p:sp>
      <p:sp>
        <p:nvSpPr>
          <p:cNvPr id="228" name="object 12"/>
          <p:cNvSpPr txBox="1"/>
          <p:nvPr/>
        </p:nvSpPr>
        <p:spPr>
          <a:xfrm>
            <a:off x="899640" y="2945520"/>
            <a:ext cx="159264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SpellChecker Class</a:t>
            </a:r>
          </a:p>
        </p:txBody>
      </p:sp>
      <p:sp>
        <p:nvSpPr>
          <p:cNvPr id="229" name="object 13"/>
          <p:cNvSpPr txBox="1"/>
          <p:nvPr/>
        </p:nvSpPr>
        <p:spPr>
          <a:xfrm>
            <a:off x="899640" y="3168360"/>
            <a:ext cx="1096920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Responsibilities:</a:t>
            </a:r>
          </a:p>
        </p:txBody>
      </p:sp>
      <p:sp>
        <p:nvSpPr>
          <p:cNvPr id="230" name="object 14"/>
          <p:cNvSpPr txBox="1"/>
          <p:nvPr/>
        </p:nvSpPr>
        <p:spPr>
          <a:xfrm>
            <a:off x="1128240" y="3457080"/>
            <a:ext cx="235801" cy="6845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31" name="object 15"/>
          <p:cNvSpPr txBox="1"/>
          <p:nvPr/>
        </p:nvSpPr>
        <p:spPr>
          <a:xfrm>
            <a:off x="1356840" y="3440519"/>
            <a:ext cx="263484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Dictionary management (add words to Trie)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Word correctness checking</a:t>
            </a:r>
          </a:p>
        </p:txBody>
      </p:sp>
      <p:sp>
        <p:nvSpPr>
          <p:cNvPr id="232" name="object 16"/>
          <p:cNvSpPr txBox="1"/>
          <p:nvPr/>
        </p:nvSpPr>
        <p:spPr>
          <a:xfrm>
            <a:off x="1356840" y="3984480"/>
            <a:ext cx="2161441" cy="332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Suggestion and autocomplete generation</a:t>
            </a:r>
          </a:p>
        </p:txBody>
      </p:sp>
      <p:sp>
        <p:nvSpPr>
          <p:cNvPr id="233" name="object 17"/>
          <p:cNvSpPr txBox="1"/>
          <p:nvPr/>
        </p:nvSpPr>
        <p:spPr>
          <a:xfrm>
            <a:off x="899640" y="4256640"/>
            <a:ext cx="9565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Key Methods:</a:t>
            </a:r>
          </a:p>
        </p:txBody>
      </p:sp>
      <p:sp>
        <p:nvSpPr>
          <p:cNvPr id="234" name="object 19"/>
          <p:cNvSpPr txBox="1"/>
          <p:nvPr/>
        </p:nvSpPr>
        <p:spPr>
          <a:xfrm>
            <a:off x="899640" y="5132880"/>
            <a:ext cx="187740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SuggestionBuffer Class</a:t>
            </a:r>
          </a:p>
        </p:txBody>
      </p:sp>
      <p:sp>
        <p:nvSpPr>
          <p:cNvPr id="235" name="object 20"/>
          <p:cNvSpPr txBox="1"/>
          <p:nvPr/>
        </p:nvSpPr>
        <p:spPr>
          <a:xfrm>
            <a:off x="899640" y="5355359"/>
            <a:ext cx="29790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Purpose: </a:t>
            </a:r>
            <a:r>
              <a:rPr b="0"/>
              <a:t>Maintain sorted list of top-k suggestions</a:t>
            </a:r>
          </a:p>
        </p:txBody>
      </p:sp>
      <p:sp>
        <p:nvSpPr>
          <p:cNvPr id="236" name="object 21"/>
          <p:cNvSpPr txBox="1"/>
          <p:nvPr/>
        </p:nvSpPr>
        <p:spPr>
          <a:xfrm>
            <a:off x="899640" y="5627520"/>
            <a:ext cx="11714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Ranking Strategy:</a:t>
            </a:r>
          </a:p>
        </p:txBody>
      </p:sp>
      <p:sp>
        <p:nvSpPr>
          <p:cNvPr id="237" name="object 22"/>
          <p:cNvSpPr txBox="1"/>
          <p:nvPr/>
        </p:nvSpPr>
        <p:spPr>
          <a:xfrm>
            <a:off x="899639" y="5899679"/>
            <a:ext cx="2968922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228600">
              <a:lnSpc>
                <a:spcPts val="1300"/>
              </a:lnSpc>
              <a:defRPr spc="-1" sz="1100"/>
            </a:pPr>
            <a:r>
              <a:t>1.</a:t>
            </a:r>
            <a:r>
              <a:rPr spc="712"/>
              <a:t> </a:t>
            </a:r>
            <a:r>
              <a:rPr b="1"/>
              <a:t>Primary: </a:t>
            </a:r>
            <a:r>
              <a:t>Edit distance (ascending)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228600"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2.</a:t>
            </a:r>
            <a:r>
              <a:rPr spc="712"/>
              <a:t> </a:t>
            </a:r>
            <a:r>
              <a:rPr b="1"/>
              <a:t>Secondary: </a:t>
            </a:r>
            <a:r>
              <a:t>Word frequency (descending)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b="1" spc="-1" sz="1100"/>
            </a:pPr>
            <a:r>
              <a:t>Implementation:</a:t>
            </a:r>
          </a:p>
        </p:txBody>
      </p:sp>
      <p:sp>
        <p:nvSpPr>
          <p:cNvPr id="238" name="object 23"/>
          <p:cNvSpPr txBox="1"/>
          <p:nvPr/>
        </p:nvSpPr>
        <p:spPr>
          <a:xfrm>
            <a:off x="1128240" y="6732720"/>
            <a:ext cx="235801" cy="951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39" name="object 24"/>
          <p:cNvSpPr txBox="1"/>
          <p:nvPr/>
        </p:nvSpPr>
        <p:spPr>
          <a:xfrm>
            <a:off x="1356840" y="6716159"/>
            <a:ext cx="22240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Fixed-size buffer (memory bounded)</a:t>
            </a:r>
          </a:p>
        </p:txBody>
      </p:sp>
      <p:sp>
        <p:nvSpPr>
          <p:cNvPr id="240" name="object 25"/>
          <p:cNvSpPr txBox="1"/>
          <p:nvPr/>
        </p:nvSpPr>
        <p:spPr>
          <a:xfrm>
            <a:off x="1356839" y="6988319"/>
            <a:ext cx="3284282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Uses LinkedList&lt;candidate&gt; for storage (pointer-based)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insertSorted() maintains order during insertion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O(k) insertion where k = buffer size</a:t>
            </a:r>
          </a:p>
        </p:txBody>
      </p:sp>
      <p:sp>
        <p:nvSpPr>
          <p:cNvPr id="241" name="object 26"/>
          <p:cNvSpPr txBox="1"/>
          <p:nvPr/>
        </p:nvSpPr>
        <p:spPr>
          <a:xfrm>
            <a:off x="899640" y="7860959"/>
            <a:ext cx="147348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Design Decisions:</a:t>
            </a:r>
          </a:p>
        </p:txBody>
      </p:sp>
      <p:sp>
        <p:nvSpPr>
          <p:cNvPr id="242" name="object 27"/>
          <p:cNvSpPr txBox="1"/>
          <p:nvPr/>
        </p:nvSpPr>
        <p:spPr>
          <a:xfrm>
            <a:off x="1128240" y="8100000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43" name="object 28"/>
          <p:cNvSpPr txBox="1"/>
          <p:nvPr/>
        </p:nvSpPr>
        <p:spPr>
          <a:xfrm>
            <a:off x="1356840" y="8083439"/>
            <a:ext cx="30560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Fixed buffer: </a:t>
            </a:r>
            <a:r>
              <a:rPr b="0"/>
              <a:t>Prevents unbounded memory growth</a:t>
            </a:r>
          </a:p>
        </p:txBody>
      </p:sp>
      <p:sp>
        <p:nvSpPr>
          <p:cNvPr id="244" name="object 29"/>
          <p:cNvSpPr txBox="1"/>
          <p:nvPr/>
        </p:nvSpPr>
        <p:spPr>
          <a:xfrm>
            <a:off x="1356839" y="8355600"/>
            <a:ext cx="2903402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Two-level sorting: </a:t>
            </a:r>
            <a:r>
              <a:rPr b="0"/>
              <a:t>Distance first, then frequency</a:t>
            </a:r>
          </a:p>
        </p:txBody>
      </p:sp>
      <p:sp>
        <p:nvSpPr>
          <p:cNvPr id="245" name="object 30"/>
          <p:cNvSpPr txBox="1"/>
          <p:nvPr/>
        </p:nvSpPr>
        <p:spPr>
          <a:xfrm>
            <a:off x="1356840" y="8627760"/>
            <a:ext cx="31662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Pointer-based: </a:t>
            </a:r>
            <a:r>
              <a:rPr b="0"/>
              <a:t>All structures use pointers (no arrays)</a:t>
            </a:r>
          </a:p>
        </p:txBody>
      </p:sp>
      <p:pic>
        <p:nvPicPr>
          <p:cNvPr id="246" name="image10.png" descr="image1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99640" y="4460040"/>
            <a:ext cx="6258241" cy="58284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object 1"/>
          <p:cNvSpPr/>
          <p:nvPr/>
        </p:nvSpPr>
        <p:spPr>
          <a:xfrm>
            <a:off x="899639" y="844524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9" name="object 4"/>
          <p:cNvSpPr txBox="1"/>
          <p:nvPr/>
        </p:nvSpPr>
        <p:spPr>
          <a:xfrm>
            <a:off x="899640" y="905760"/>
            <a:ext cx="3976921" cy="5201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pPr>
            <a:r>
              <a:t>Slide 10: Module Implementation - Code Snippet</a:t>
            </a:r>
          </a:p>
          <a:p>
            <a:pPr>
              <a:lnSpc>
                <a:spcPts val="1400"/>
              </a:lnSpc>
              <a:spcBef>
                <a:spcPts val="1200"/>
              </a:spcBef>
              <a:defRPr spc="-1" sz="1300">
                <a:latin typeface="Arial"/>
                <a:ea typeface="Arial"/>
                <a:cs typeface="Arial"/>
                <a:sym typeface="Arial"/>
              </a:defRPr>
            </a:pPr>
            <a:r>
              <a:t>Critical Code: Fuzzy Search</a:t>
            </a:r>
          </a:p>
        </p:txBody>
      </p:sp>
      <p:sp>
        <p:nvSpPr>
          <p:cNvPr id="250" name="object 14"/>
          <p:cNvSpPr txBox="1"/>
          <p:nvPr/>
        </p:nvSpPr>
        <p:spPr>
          <a:xfrm>
            <a:off x="899640" y="7237079"/>
            <a:ext cx="7981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Key Points:</a:t>
            </a:r>
          </a:p>
        </p:txBody>
      </p:sp>
      <p:sp>
        <p:nvSpPr>
          <p:cNvPr id="251" name="object 15"/>
          <p:cNvSpPr txBox="1"/>
          <p:nvPr/>
        </p:nvSpPr>
        <p:spPr>
          <a:xfrm>
            <a:off x="1128240" y="7525800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52" name="object 16"/>
          <p:cNvSpPr txBox="1"/>
          <p:nvPr/>
        </p:nvSpPr>
        <p:spPr>
          <a:xfrm>
            <a:off x="1356840" y="7509240"/>
            <a:ext cx="1986480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DP row computed incrementally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Early pruning with rowMin</a:t>
            </a:r>
          </a:p>
        </p:txBody>
      </p:sp>
      <p:sp>
        <p:nvSpPr>
          <p:cNvPr id="253" name="object 17"/>
          <p:cNvSpPr txBox="1"/>
          <p:nvPr/>
        </p:nvSpPr>
        <p:spPr>
          <a:xfrm>
            <a:off x="1356840" y="8053199"/>
            <a:ext cx="22791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Memory managed carefully (delete[])</a:t>
            </a:r>
          </a:p>
        </p:txBody>
      </p:sp>
      <p:pic>
        <p:nvPicPr>
          <p:cNvPr id="254" name="image11.png" descr="image11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35120" y="1501559"/>
            <a:ext cx="6385320" cy="560304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object 1"/>
          <p:cNvSpPr/>
          <p:nvPr/>
        </p:nvSpPr>
        <p:spPr>
          <a:xfrm>
            <a:off x="881280" y="4111199"/>
            <a:ext cx="6009121" cy="891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7" name="object 2"/>
          <p:cNvSpPr/>
          <p:nvPr/>
        </p:nvSpPr>
        <p:spPr>
          <a:xfrm>
            <a:off x="881280" y="2845440"/>
            <a:ext cx="6009121" cy="891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8" name="object 4"/>
          <p:cNvSpPr txBox="1"/>
          <p:nvPr/>
        </p:nvSpPr>
        <p:spPr>
          <a:xfrm>
            <a:off x="899640" y="905760"/>
            <a:ext cx="2869921" cy="190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11: Frontend Implementation</a:t>
            </a:r>
          </a:p>
        </p:txBody>
      </p:sp>
      <p:sp>
        <p:nvSpPr>
          <p:cNvPr id="259" name="object 5"/>
          <p:cNvSpPr txBox="1"/>
          <p:nvPr/>
        </p:nvSpPr>
        <p:spPr>
          <a:xfrm>
            <a:off x="899640" y="1262159"/>
            <a:ext cx="1977840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Command-Line Fallback</a:t>
            </a:r>
          </a:p>
        </p:txBody>
      </p:sp>
      <p:sp>
        <p:nvSpPr>
          <p:cNvPr id="260" name="object 6"/>
          <p:cNvSpPr txBox="1"/>
          <p:nvPr/>
        </p:nvSpPr>
        <p:spPr>
          <a:xfrm>
            <a:off x="899640" y="1484639"/>
            <a:ext cx="6930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Features:</a:t>
            </a:r>
          </a:p>
        </p:txBody>
      </p:sp>
      <p:sp>
        <p:nvSpPr>
          <p:cNvPr id="261" name="object 7"/>
          <p:cNvSpPr txBox="1"/>
          <p:nvPr/>
        </p:nvSpPr>
        <p:spPr>
          <a:xfrm>
            <a:off x="1128240" y="177335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62" name="object 8"/>
          <p:cNvSpPr txBox="1"/>
          <p:nvPr/>
        </p:nvSpPr>
        <p:spPr>
          <a:xfrm>
            <a:off x="1356839" y="1756799"/>
            <a:ext cx="2781722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Batch mode: Process words from input file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Interactive mode: User enters words manually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Clear output formatting</a:t>
            </a:r>
          </a:p>
        </p:txBody>
      </p:sp>
      <p:sp>
        <p:nvSpPr>
          <p:cNvPr id="263" name="object 9"/>
          <p:cNvSpPr txBox="1"/>
          <p:nvPr/>
        </p:nvSpPr>
        <p:spPr>
          <a:xfrm>
            <a:off x="899640" y="2573279"/>
            <a:ext cx="14198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Batch Mode Example:</a:t>
            </a:r>
          </a:p>
        </p:txBody>
      </p:sp>
      <p:sp>
        <p:nvSpPr>
          <p:cNvPr id="264" name="object 10"/>
          <p:cNvSpPr txBox="1"/>
          <p:nvPr/>
        </p:nvSpPr>
        <p:spPr>
          <a:xfrm>
            <a:off x="899640" y="2845440"/>
            <a:ext cx="2037241" cy="981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=== Batch Check ===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hello is correct.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helo -&gt; hello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wrold -&gt; world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thier -&gt; their, there, they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teh -&gt; they</a:t>
            </a:r>
          </a:p>
        </p:txBody>
      </p:sp>
      <p:sp>
        <p:nvSpPr>
          <p:cNvPr id="265" name="object 11"/>
          <p:cNvSpPr txBox="1"/>
          <p:nvPr/>
        </p:nvSpPr>
        <p:spPr>
          <a:xfrm>
            <a:off x="899640" y="3839040"/>
            <a:ext cx="11919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Interactive Mode:</a:t>
            </a:r>
          </a:p>
        </p:txBody>
      </p:sp>
      <p:sp>
        <p:nvSpPr>
          <p:cNvPr id="266" name="object 12"/>
          <p:cNvSpPr txBox="1"/>
          <p:nvPr/>
        </p:nvSpPr>
        <p:spPr>
          <a:xfrm>
            <a:off x="899640" y="4111199"/>
            <a:ext cx="3782881" cy="9812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=== Interactive ===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Spell Checker Interactive Mode (type 'exit' to quit)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Enter word: helo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Suggestions: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139680"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hello (dist=1, freq=30000)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Enter word: exit</a:t>
            </a:r>
          </a:p>
        </p:txBody>
      </p:sp>
      <p:sp>
        <p:nvSpPr>
          <p:cNvPr id="267" name="object 13"/>
          <p:cNvSpPr txBox="1"/>
          <p:nvPr/>
        </p:nvSpPr>
        <p:spPr>
          <a:xfrm>
            <a:off x="899640" y="5161319"/>
            <a:ext cx="239076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Graphical User Interface (GUI)</a:t>
            </a:r>
          </a:p>
        </p:txBody>
      </p:sp>
      <p:sp>
        <p:nvSpPr>
          <p:cNvPr id="268" name="object 14"/>
          <p:cNvSpPr txBox="1"/>
          <p:nvPr/>
        </p:nvSpPr>
        <p:spPr>
          <a:xfrm>
            <a:off x="899640" y="5383800"/>
            <a:ext cx="6930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Features:</a:t>
            </a:r>
          </a:p>
        </p:txBody>
      </p:sp>
      <p:sp>
        <p:nvSpPr>
          <p:cNvPr id="269" name="object 15"/>
          <p:cNvSpPr txBox="1"/>
          <p:nvPr/>
        </p:nvSpPr>
        <p:spPr>
          <a:xfrm>
            <a:off x="1128240" y="5672520"/>
            <a:ext cx="235801" cy="1205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70" name="object 16"/>
          <p:cNvSpPr txBox="1"/>
          <p:nvPr/>
        </p:nvSpPr>
        <p:spPr>
          <a:xfrm>
            <a:off x="1356840" y="5655960"/>
            <a:ext cx="17665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Qt6-based modern interface</a:t>
            </a:r>
          </a:p>
        </p:txBody>
      </p:sp>
      <p:sp>
        <p:nvSpPr>
          <p:cNvPr id="271" name="object 17"/>
          <p:cNvSpPr txBox="1"/>
          <p:nvPr/>
        </p:nvSpPr>
        <p:spPr>
          <a:xfrm>
            <a:off x="1356840" y="5928119"/>
            <a:ext cx="219924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Real-time spell checking as you type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Click-to-replace suggestions</a:t>
            </a:r>
          </a:p>
        </p:txBody>
      </p:sp>
      <p:sp>
        <p:nvSpPr>
          <p:cNvPr id="272" name="object 18"/>
          <p:cNvSpPr txBox="1"/>
          <p:nvPr/>
        </p:nvSpPr>
        <p:spPr>
          <a:xfrm>
            <a:off x="1356840" y="6472439"/>
            <a:ext cx="2086201" cy="59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Status display (correct/incorrect)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Loads input_large.json when available</a:t>
            </a:r>
          </a:p>
        </p:txBody>
      </p:sp>
      <p:sp>
        <p:nvSpPr>
          <p:cNvPr id="273" name="object 19"/>
          <p:cNvSpPr txBox="1"/>
          <p:nvPr/>
        </p:nvSpPr>
        <p:spPr>
          <a:xfrm>
            <a:off x="899640" y="7016760"/>
            <a:ext cx="11768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GUI Components:</a:t>
            </a:r>
          </a:p>
        </p:txBody>
      </p:sp>
      <p:sp>
        <p:nvSpPr>
          <p:cNvPr id="274" name="object 20"/>
          <p:cNvSpPr txBox="1"/>
          <p:nvPr/>
        </p:nvSpPr>
        <p:spPr>
          <a:xfrm>
            <a:off x="1128240" y="7305479"/>
            <a:ext cx="235801" cy="951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75" name="object 21"/>
          <p:cNvSpPr txBox="1"/>
          <p:nvPr/>
        </p:nvSpPr>
        <p:spPr>
          <a:xfrm>
            <a:off x="1356840" y="7288920"/>
            <a:ext cx="10087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Text input field</a:t>
            </a:r>
          </a:p>
        </p:txBody>
      </p:sp>
      <p:sp>
        <p:nvSpPr>
          <p:cNvPr id="276" name="object 22"/>
          <p:cNvSpPr txBox="1"/>
          <p:nvPr/>
        </p:nvSpPr>
        <p:spPr>
          <a:xfrm>
            <a:off x="1356840" y="7561080"/>
            <a:ext cx="2681641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Status label (shows "correct" or suggestions)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Suggestion buttons (up to 3 suggestions)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Auto-updates on text change</a:t>
            </a:r>
          </a:p>
        </p:txBody>
      </p:sp>
      <p:sp>
        <p:nvSpPr>
          <p:cNvPr id="277" name="object 23"/>
          <p:cNvSpPr txBox="1"/>
          <p:nvPr/>
        </p:nvSpPr>
        <p:spPr>
          <a:xfrm>
            <a:off x="899640" y="8377200"/>
            <a:ext cx="8391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Integration:</a:t>
            </a:r>
          </a:p>
        </p:txBody>
      </p:sp>
      <p:sp>
        <p:nvSpPr>
          <p:cNvPr id="278" name="object 24"/>
          <p:cNvSpPr txBox="1"/>
          <p:nvPr/>
        </p:nvSpPr>
        <p:spPr>
          <a:xfrm>
            <a:off x="1128240" y="8666280"/>
            <a:ext cx="235801" cy="430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79" name="object 25"/>
          <p:cNvSpPr txBox="1"/>
          <p:nvPr/>
        </p:nvSpPr>
        <p:spPr>
          <a:xfrm>
            <a:off x="1356840" y="8649359"/>
            <a:ext cx="311544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GUI and CLI fallback use same SpellChecker core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Modular design: frontend/gui/ and frontend/tui.cpp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object 1"/>
          <p:cNvSpPr/>
          <p:nvPr/>
        </p:nvSpPr>
        <p:spPr>
          <a:xfrm>
            <a:off x="899639" y="849600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82" name="object 2"/>
          <p:cNvSpPr/>
          <p:nvPr/>
        </p:nvSpPr>
        <p:spPr>
          <a:xfrm>
            <a:off x="899639" y="1291679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83" name="object 3"/>
          <p:cNvSpPr/>
          <p:nvPr/>
        </p:nvSpPr>
        <p:spPr>
          <a:xfrm>
            <a:off x="881280" y="3712319"/>
            <a:ext cx="6009121" cy="347328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84" name="object 5"/>
          <p:cNvSpPr txBox="1"/>
          <p:nvPr/>
        </p:nvSpPr>
        <p:spPr>
          <a:xfrm>
            <a:off x="1128240" y="916560"/>
            <a:ext cx="235801" cy="1638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-</a:t>
            </a:r>
          </a:p>
        </p:txBody>
      </p:sp>
      <p:sp>
        <p:nvSpPr>
          <p:cNvPr id="285" name="object 6"/>
          <p:cNvSpPr txBox="1"/>
          <p:nvPr/>
        </p:nvSpPr>
        <p:spPr>
          <a:xfrm>
            <a:off x="1356840" y="899640"/>
            <a:ext cx="18147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Shared core logic in src/core/</a:t>
            </a:r>
          </a:p>
        </p:txBody>
      </p:sp>
      <p:sp>
        <p:nvSpPr>
          <p:cNvPr id="286" name="object 7"/>
          <p:cNvSpPr txBox="1"/>
          <p:nvPr/>
        </p:nvSpPr>
        <p:spPr>
          <a:xfrm>
            <a:off x="899640" y="1500839"/>
            <a:ext cx="2652841" cy="190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12: Testing and Validation</a:t>
            </a:r>
          </a:p>
        </p:txBody>
      </p:sp>
      <p:sp>
        <p:nvSpPr>
          <p:cNvPr id="287" name="object 8"/>
          <p:cNvSpPr txBox="1"/>
          <p:nvPr/>
        </p:nvSpPr>
        <p:spPr>
          <a:xfrm>
            <a:off x="899640" y="1857239"/>
            <a:ext cx="135396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Testing Strategy</a:t>
            </a:r>
          </a:p>
        </p:txBody>
      </p:sp>
      <p:sp>
        <p:nvSpPr>
          <p:cNvPr id="288" name="object 9"/>
          <p:cNvSpPr txBox="1"/>
          <p:nvPr/>
        </p:nvSpPr>
        <p:spPr>
          <a:xfrm>
            <a:off x="899640" y="2079719"/>
            <a:ext cx="12117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Test Organization:</a:t>
            </a:r>
          </a:p>
        </p:txBody>
      </p:sp>
      <p:sp>
        <p:nvSpPr>
          <p:cNvPr id="289" name="object 10"/>
          <p:cNvSpPr txBox="1"/>
          <p:nvPr/>
        </p:nvSpPr>
        <p:spPr>
          <a:xfrm>
            <a:off x="1128240" y="2368439"/>
            <a:ext cx="235801" cy="951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290" name="object 11"/>
          <p:cNvSpPr txBox="1"/>
          <p:nvPr/>
        </p:nvSpPr>
        <p:spPr>
          <a:xfrm>
            <a:off x="1356839" y="2351880"/>
            <a:ext cx="3414962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Unit Tests: </a:t>
            </a:r>
            <a:r>
              <a:rPr b="0"/>
              <a:t>Data structures (Trie, LinkedList, EditDistance)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b="1" spc="-1" sz="1100"/>
            </a:pPr>
            <a:r>
              <a:t>Integration Tests: </a:t>
            </a:r>
            <a:r>
              <a:rPr b="0"/>
              <a:t>End-to-end workflow, I/O handling</a:t>
            </a:r>
          </a:p>
        </p:txBody>
      </p:sp>
      <p:sp>
        <p:nvSpPr>
          <p:cNvPr id="291" name="object 12"/>
          <p:cNvSpPr txBox="1"/>
          <p:nvPr/>
        </p:nvSpPr>
        <p:spPr>
          <a:xfrm>
            <a:off x="1356840" y="2896199"/>
            <a:ext cx="394380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Edge Cases: </a:t>
            </a:r>
            <a:r>
              <a:rPr b="0"/>
              <a:t>Empty inputs, single elements, boundary values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b="1" spc="-1" sz="1100"/>
            </a:pPr>
            <a:r>
              <a:t>Performance Tests: </a:t>
            </a:r>
            <a:r>
              <a:rPr b="0"/>
              <a:t>Large dataset stress tests, memory usage tests</a:t>
            </a:r>
          </a:p>
        </p:txBody>
      </p:sp>
      <p:sp>
        <p:nvSpPr>
          <p:cNvPr id="292" name="object 13"/>
          <p:cNvSpPr txBox="1"/>
          <p:nvPr/>
        </p:nvSpPr>
        <p:spPr>
          <a:xfrm>
            <a:off x="899640" y="3440519"/>
            <a:ext cx="10065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Test Coverage:</a:t>
            </a:r>
          </a:p>
        </p:txBody>
      </p:sp>
      <p:sp>
        <p:nvSpPr>
          <p:cNvPr id="293" name="object 14"/>
          <p:cNvSpPr txBox="1"/>
          <p:nvPr/>
        </p:nvSpPr>
        <p:spPr>
          <a:xfrm>
            <a:off x="899639" y="3712319"/>
            <a:ext cx="5668202" cy="8415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===============================================================================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2094839"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PROJECT TEST SUITE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===============================================================================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[UNIT] Data Structures</a:t>
            </a:r>
          </a:p>
        </p:txBody>
      </p:sp>
      <p:sp>
        <p:nvSpPr>
          <p:cNvPr id="294" name="object 15"/>
          <p:cNvSpPr txBox="1"/>
          <p:nvPr/>
        </p:nvSpPr>
        <p:spPr>
          <a:xfrm>
            <a:off x="1039320" y="4307399"/>
            <a:ext cx="2072160" cy="493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- LinkedList: 15 tests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- Trie: 20 tests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- EditDistance: 12 tests </a:t>
            </a:r>
          </a:p>
        </p:txBody>
      </p:sp>
      <p:sp>
        <p:nvSpPr>
          <p:cNvPr id="295" name="object 16"/>
          <p:cNvSpPr txBox="1"/>
          <p:nvPr/>
        </p:nvSpPr>
        <p:spPr>
          <a:xfrm>
            <a:off x="899640" y="4962600"/>
            <a:ext cx="105984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[INTEGRATION]</a:t>
            </a:r>
          </a:p>
        </p:txBody>
      </p:sp>
      <p:sp>
        <p:nvSpPr>
          <p:cNvPr id="296" name="object 17"/>
          <p:cNvSpPr txBox="1"/>
          <p:nvPr/>
        </p:nvSpPr>
        <p:spPr>
          <a:xfrm>
            <a:off x="1039320" y="5111639"/>
            <a:ext cx="1722960" cy="328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- Workflow: 8 tests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- I/O: 5 tests </a:t>
            </a:r>
          </a:p>
        </p:txBody>
      </p:sp>
      <p:sp>
        <p:nvSpPr>
          <p:cNvPr id="297" name="object 18"/>
          <p:cNvSpPr txBox="1"/>
          <p:nvPr/>
        </p:nvSpPr>
        <p:spPr>
          <a:xfrm>
            <a:off x="899640" y="5598000"/>
            <a:ext cx="99000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[EDGE CASES]</a:t>
            </a:r>
          </a:p>
        </p:txBody>
      </p:sp>
      <p:sp>
        <p:nvSpPr>
          <p:cNvPr id="298" name="object 19"/>
          <p:cNvSpPr txBox="1"/>
          <p:nvPr/>
        </p:nvSpPr>
        <p:spPr>
          <a:xfrm>
            <a:off x="1039319" y="5746679"/>
            <a:ext cx="1583281" cy="493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- Empty: 5 tests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- Single: 5 tests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- Limits: 6 tests </a:t>
            </a:r>
          </a:p>
        </p:txBody>
      </p:sp>
      <p:sp>
        <p:nvSpPr>
          <p:cNvPr id="299" name="object 20"/>
          <p:cNvSpPr txBox="1"/>
          <p:nvPr/>
        </p:nvSpPr>
        <p:spPr>
          <a:xfrm>
            <a:off x="899640" y="6402239"/>
            <a:ext cx="1059841" cy="143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[PERFORMANCE]</a:t>
            </a:r>
          </a:p>
        </p:txBody>
      </p:sp>
      <p:sp>
        <p:nvSpPr>
          <p:cNvPr id="300" name="object 21"/>
          <p:cNvSpPr txBox="1"/>
          <p:nvPr/>
        </p:nvSpPr>
        <p:spPr>
          <a:xfrm>
            <a:off x="1039319" y="6550920"/>
            <a:ext cx="2002322" cy="328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- Stress tests: 3 tests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- Memory tests: 4 tests </a:t>
            </a:r>
          </a:p>
        </p:txBody>
      </p:sp>
      <p:sp>
        <p:nvSpPr>
          <p:cNvPr id="301" name="object 22"/>
          <p:cNvSpPr txBox="1"/>
          <p:nvPr/>
        </p:nvSpPr>
        <p:spPr>
          <a:xfrm>
            <a:off x="899640" y="7037640"/>
            <a:ext cx="378288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SUMMARY: 147/147 tests passed | 0 failed | 0 skipped</a:t>
            </a:r>
          </a:p>
        </p:txBody>
      </p:sp>
      <p:sp>
        <p:nvSpPr>
          <p:cNvPr id="302" name="object 23"/>
          <p:cNvSpPr txBox="1"/>
          <p:nvPr/>
        </p:nvSpPr>
        <p:spPr>
          <a:xfrm>
            <a:off x="899640" y="7287839"/>
            <a:ext cx="11383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Memory Testing:</a:t>
            </a:r>
          </a:p>
        </p:txBody>
      </p:sp>
      <p:sp>
        <p:nvSpPr>
          <p:cNvPr id="303" name="object 24"/>
          <p:cNvSpPr txBox="1"/>
          <p:nvPr/>
        </p:nvSpPr>
        <p:spPr>
          <a:xfrm>
            <a:off x="1128240" y="757655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04" name="object 25"/>
          <p:cNvSpPr txBox="1"/>
          <p:nvPr/>
        </p:nvSpPr>
        <p:spPr>
          <a:xfrm>
            <a:off x="1356840" y="7559999"/>
            <a:ext cx="2224081" cy="852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Memory tests included; Valgrind target available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All pointers properly deallocated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RAII principles followed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object 1"/>
          <p:cNvSpPr/>
          <p:nvPr/>
        </p:nvSpPr>
        <p:spPr>
          <a:xfrm>
            <a:off x="899639" y="7338959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07" name="object 2"/>
          <p:cNvSpPr/>
          <p:nvPr/>
        </p:nvSpPr>
        <p:spPr>
          <a:xfrm>
            <a:off x="1109880" y="8399160"/>
            <a:ext cx="5780521" cy="148321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08" name="object 4"/>
          <p:cNvSpPr txBox="1"/>
          <p:nvPr/>
        </p:nvSpPr>
        <p:spPr>
          <a:xfrm>
            <a:off x="899639" y="905760"/>
            <a:ext cx="2909882" cy="190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13: Challenges and Solutions</a:t>
            </a:r>
          </a:p>
        </p:txBody>
      </p:sp>
      <p:sp>
        <p:nvSpPr>
          <p:cNvPr id="309" name="object 5"/>
          <p:cNvSpPr txBox="1"/>
          <p:nvPr/>
        </p:nvSpPr>
        <p:spPr>
          <a:xfrm>
            <a:off x="899640" y="1262159"/>
            <a:ext cx="276732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Challenge 1: Efficient Fuzzy Search</a:t>
            </a:r>
          </a:p>
        </p:txBody>
      </p:sp>
      <p:sp>
        <p:nvSpPr>
          <p:cNvPr id="310" name="object 6"/>
          <p:cNvSpPr txBox="1"/>
          <p:nvPr/>
        </p:nvSpPr>
        <p:spPr>
          <a:xfrm>
            <a:off x="899639" y="1484639"/>
            <a:ext cx="4620962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Problem: </a:t>
            </a:r>
            <a:r>
              <a:rPr b="0"/>
              <a:t>How to find words within edit distance k without checking all words?</a:t>
            </a:r>
          </a:p>
        </p:txBody>
      </p:sp>
      <p:sp>
        <p:nvSpPr>
          <p:cNvPr id="311" name="object 7"/>
          <p:cNvSpPr txBox="1"/>
          <p:nvPr/>
        </p:nvSpPr>
        <p:spPr>
          <a:xfrm>
            <a:off x="899640" y="1756799"/>
            <a:ext cx="6739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Solution:</a:t>
            </a:r>
          </a:p>
        </p:txBody>
      </p:sp>
      <p:sp>
        <p:nvSpPr>
          <p:cNvPr id="312" name="object 8"/>
          <p:cNvSpPr txBox="1"/>
          <p:nvPr/>
        </p:nvSpPr>
        <p:spPr>
          <a:xfrm>
            <a:off x="1128240" y="204551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13" name="object 9"/>
          <p:cNvSpPr txBox="1"/>
          <p:nvPr/>
        </p:nvSpPr>
        <p:spPr>
          <a:xfrm>
            <a:off x="1356840" y="2028960"/>
            <a:ext cx="24195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Trie-guided search with DP row tracking</a:t>
            </a:r>
          </a:p>
        </p:txBody>
      </p:sp>
      <p:sp>
        <p:nvSpPr>
          <p:cNvPr id="314" name="object 10"/>
          <p:cNvSpPr txBox="1"/>
          <p:nvPr/>
        </p:nvSpPr>
        <p:spPr>
          <a:xfrm>
            <a:off x="1356839" y="2301120"/>
            <a:ext cx="3683882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Pruning branches where minimum distance exceeds threshold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Result: O(α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× k × |prefixes|) instead of O(N × m×n)</a:t>
            </a:r>
          </a:p>
        </p:txBody>
      </p:sp>
      <p:sp>
        <p:nvSpPr>
          <p:cNvPr id="315" name="object 11"/>
          <p:cNvSpPr txBox="1"/>
          <p:nvPr/>
        </p:nvSpPr>
        <p:spPr>
          <a:xfrm>
            <a:off x="899640" y="2901600"/>
            <a:ext cx="334584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Challenge 2: Pointer-Based Implementation</a:t>
            </a:r>
          </a:p>
        </p:txBody>
      </p:sp>
      <p:sp>
        <p:nvSpPr>
          <p:cNvPr id="316" name="object 12"/>
          <p:cNvSpPr txBox="1"/>
          <p:nvPr/>
        </p:nvSpPr>
        <p:spPr>
          <a:xfrm>
            <a:off x="899639" y="3124080"/>
            <a:ext cx="3437282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Problem: </a:t>
            </a:r>
            <a:r>
              <a:rPr b="0"/>
              <a:t>Course requires pointer-based, no array storage</a:t>
            </a:r>
          </a:p>
        </p:txBody>
      </p:sp>
      <p:sp>
        <p:nvSpPr>
          <p:cNvPr id="317" name="object 13"/>
          <p:cNvSpPr txBox="1"/>
          <p:nvPr/>
        </p:nvSpPr>
        <p:spPr>
          <a:xfrm>
            <a:off x="899640" y="3396239"/>
            <a:ext cx="6739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Solution:</a:t>
            </a:r>
          </a:p>
        </p:txBody>
      </p:sp>
      <p:sp>
        <p:nvSpPr>
          <p:cNvPr id="318" name="object 14"/>
          <p:cNvSpPr txBox="1"/>
          <p:nvPr/>
        </p:nvSpPr>
        <p:spPr>
          <a:xfrm>
            <a:off x="1128240" y="368495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19" name="object 15"/>
          <p:cNvSpPr txBox="1"/>
          <p:nvPr/>
        </p:nvSpPr>
        <p:spPr>
          <a:xfrm>
            <a:off x="1356840" y="3668400"/>
            <a:ext cx="3269520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LinkedList for Trie children (dynamic, pointer-based)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Manual memory management with careful destructors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Rule of Five: Copy operations deleted (not needed)</a:t>
            </a:r>
          </a:p>
        </p:txBody>
      </p:sp>
      <p:sp>
        <p:nvSpPr>
          <p:cNvPr id="320" name="object 16"/>
          <p:cNvSpPr txBox="1"/>
          <p:nvPr/>
        </p:nvSpPr>
        <p:spPr>
          <a:xfrm>
            <a:off x="899640" y="4541039"/>
            <a:ext cx="268524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Challenge 3: Ranking Suggestions</a:t>
            </a:r>
          </a:p>
        </p:txBody>
      </p:sp>
      <p:sp>
        <p:nvSpPr>
          <p:cNvPr id="321" name="object 17"/>
          <p:cNvSpPr txBox="1"/>
          <p:nvPr/>
        </p:nvSpPr>
        <p:spPr>
          <a:xfrm>
            <a:off x="899639" y="4763520"/>
            <a:ext cx="3517922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b="1" spc="-1" sz="1100"/>
            </a:pPr>
            <a:r>
              <a:t>Problem: </a:t>
            </a:r>
            <a:r>
              <a:rPr b="0"/>
              <a:t>How to rank suggestions (distance vs frequency)?</a:t>
            </a:r>
          </a:p>
        </p:txBody>
      </p:sp>
      <p:sp>
        <p:nvSpPr>
          <p:cNvPr id="322" name="object 18"/>
          <p:cNvSpPr txBox="1"/>
          <p:nvPr/>
        </p:nvSpPr>
        <p:spPr>
          <a:xfrm>
            <a:off x="899640" y="5035679"/>
            <a:ext cx="6739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Solution:</a:t>
            </a:r>
          </a:p>
        </p:txBody>
      </p:sp>
      <p:sp>
        <p:nvSpPr>
          <p:cNvPr id="323" name="object 19"/>
          <p:cNvSpPr txBox="1"/>
          <p:nvPr/>
        </p:nvSpPr>
        <p:spPr>
          <a:xfrm>
            <a:off x="1128240" y="532439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24" name="object 20"/>
          <p:cNvSpPr txBox="1"/>
          <p:nvPr/>
        </p:nvSpPr>
        <p:spPr>
          <a:xfrm>
            <a:off x="1356839" y="5307839"/>
            <a:ext cx="3402362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Two-level sorting: Primary distance, secondary frequency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Fixed-size buffer maintains top-k efficiently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Insertion sort for O(k) complexity</a:t>
            </a:r>
          </a:p>
        </p:txBody>
      </p:sp>
      <p:sp>
        <p:nvSpPr>
          <p:cNvPr id="325" name="object 21"/>
          <p:cNvSpPr txBox="1"/>
          <p:nvPr/>
        </p:nvSpPr>
        <p:spPr>
          <a:xfrm>
            <a:off x="899640" y="6180480"/>
            <a:ext cx="146448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Lessons Learned:</a:t>
            </a:r>
          </a:p>
        </p:txBody>
      </p:sp>
      <p:sp>
        <p:nvSpPr>
          <p:cNvPr id="326" name="object 22"/>
          <p:cNvSpPr txBox="1"/>
          <p:nvPr/>
        </p:nvSpPr>
        <p:spPr>
          <a:xfrm>
            <a:off x="1128240" y="6419520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27" name="object 23"/>
          <p:cNvSpPr txBox="1"/>
          <p:nvPr/>
        </p:nvSpPr>
        <p:spPr>
          <a:xfrm>
            <a:off x="1356840" y="6402959"/>
            <a:ext cx="29354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Early pruning significantly improves performance</a:t>
            </a:r>
          </a:p>
        </p:txBody>
      </p:sp>
      <p:sp>
        <p:nvSpPr>
          <p:cNvPr id="328" name="object 24"/>
          <p:cNvSpPr txBox="1"/>
          <p:nvPr/>
        </p:nvSpPr>
        <p:spPr>
          <a:xfrm>
            <a:off x="1356840" y="6675119"/>
            <a:ext cx="364716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Custom data structures require careful memory management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Trade-offs: Fixed buffer vs. dynamic allocation</a:t>
            </a:r>
          </a:p>
        </p:txBody>
      </p:sp>
      <p:sp>
        <p:nvSpPr>
          <p:cNvPr id="329" name="object 25"/>
          <p:cNvSpPr txBox="1"/>
          <p:nvPr/>
        </p:nvSpPr>
        <p:spPr>
          <a:xfrm>
            <a:off x="899640" y="7548119"/>
            <a:ext cx="1743121" cy="190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14: Live Demo</a:t>
            </a:r>
          </a:p>
        </p:txBody>
      </p:sp>
      <p:sp>
        <p:nvSpPr>
          <p:cNvPr id="330" name="object 26"/>
          <p:cNvSpPr txBox="1"/>
          <p:nvPr/>
        </p:nvSpPr>
        <p:spPr>
          <a:xfrm>
            <a:off x="899640" y="7904519"/>
            <a:ext cx="98676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Demo Flow</a:t>
            </a:r>
          </a:p>
        </p:txBody>
      </p:sp>
      <p:sp>
        <p:nvSpPr>
          <p:cNvPr id="331" name="object 27"/>
          <p:cNvSpPr txBox="1"/>
          <p:nvPr/>
        </p:nvSpPr>
        <p:spPr>
          <a:xfrm>
            <a:off x="1128240" y="8127000"/>
            <a:ext cx="12888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1.</a:t>
            </a:r>
            <a:r>
              <a:rPr spc="712"/>
              <a:t> </a:t>
            </a:r>
            <a:r>
              <a:rPr b="1"/>
              <a:t>Load Dictionary</a:t>
            </a:r>
          </a:p>
        </p:txBody>
      </p:sp>
      <p:sp>
        <p:nvSpPr>
          <p:cNvPr id="332" name="object 28"/>
          <p:cNvSpPr txBox="1"/>
          <p:nvPr/>
        </p:nvSpPr>
        <p:spPr>
          <a:xfrm>
            <a:off x="1356840" y="8399160"/>
            <a:ext cx="252612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./spellcheck data/input_large.json</a:t>
            </a:r>
          </a:p>
        </p:txBody>
      </p:sp>
      <p:sp>
        <p:nvSpPr>
          <p:cNvPr id="333" name="object 29"/>
          <p:cNvSpPr txBox="1"/>
          <p:nvPr/>
        </p:nvSpPr>
        <p:spPr>
          <a:xfrm>
            <a:off x="1585440" y="8666280"/>
            <a:ext cx="235801" cy="163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o</a:t>
            </a:r>
          </a:p>
        </p:txBody>
      </p:sp>
      <p:sp>
        <p:nvSpPr>
          <p:cNvPr id="334" name="object 30"/>
          <p:cNvSpPr txBox="1"/>
          <p:nvPr/>
        </p:nvSpPr>
        <p:spPr>
          <a:xfrm>
            <a:off x="1814039" y="8649359"/>
            <a:ext cx="2835722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Uses input_large.json and generated stress data</a:t>
            </a:r>
          </a:p>
        </p:txBody>
      </p:sp>
      <p:sp>
        <p:nvSpPr>
          <p:cNvPr id="335" name="object 31"/>
          <p:cNvSpPr txBox="1"/>
          <p:nvPr/>
        </p:nvSpPr>
        <p:spPr>
          <a:xfrm>
            <a:off x="1128240" y="8921519"/>
            <a:ext cx="1672560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2.</a:t>
            </a:r>
            <a:r>
              <a:rPr spc="712"/>
              <a:t> </a:t>
            </a:r>
            <a:r>
              <a:rPr b="1"/>
              <a:t>CLI Batch Processing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object 1"/>
          <p:cNvSpPr/>
          <p:nvPr/>
        </p:nvSpPr>
        <p:spPr>
          <a:xfrm>
            <a:off x="899639" y="689652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38" name="object 2"/>
          <p:cNvSpPr/>
          <p:nvPr/>
        </p:nvSpPr>
        <p:spPr>
          <a:xfrm>
            <a:off x="881280" y="5783040"/>
            <a:ext cx="6009121" cy="891721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39" name="object 3"/>
          <p:cNvSpPr/>
          <p:nvPr/>
        </p:nvSpPr>
        <p:spPr>
          <a:xfrm>
            <a:off x="1109880" y="3076919"/>
            <a:ext cx="5780521" cy="148321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40" name="object 5"/>
          <p:cNvSpPr txBox="1"/>
          <p:nvPr/>
        </p:nvSpPr>
        <p:spPr>
          <a:xfrm>
            <a:off x="1585440" y="916560"/>
            <a:ext cx="235801" cy="6845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</a:p>
        </p:txBody>
      </p:sp>
      <p:sp>
        <p:nvSpPr>
          <p:cNvPr id="341" name="object 6"/>
          <p:cNvSpPr txBox="1"/>
          <p:nvPr/>
        </p:nvSpPr>
        <p:spPr>
          <a:xfrm>
            <a:off x="1814040" y="899640"/>
            <a:ext cx="2250721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Process words from input file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Show correct/incorrect identification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Display ranked suggestions</a:t>
            </a:r>
          </a:p>
        </p:txBody>
      </p:sp>
      <p:sp>
        <p:nvSpPr>
          <p:cNvPr id="342" name="object 7"/>
          <p:cNvSpPr txBox="1"/>
          <p:nvPr/>
        </p:nvSpPr>
        <p:spPr>
          <a:xfrm>
            <a:off x="1128240" y="1716120"/>
            <a:ext cx="16981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3.</a:t>
            </a:r>
            <a:r>
              <a:rPr spc="712"/>
              <a:t> </a:t>
            </a:r>
            <a:r>
              <a:rPr b="1"/>
              <a:t>CLI Interactive Fallback</a:t>
            </a:r>
          </a:p>
        </p:txBody>
      </p:sp>
      <p:sp>
        <p:nvSpPr>
          <p:cNvPr id="343" name="object 8"/>
          <p:cNvSpPr txBox="1"/>
          <p:nvPr/>
        </p:nvSpPr>
        <p:spPr>
          <a:xfrm>
            <a:off x="1585440" y="2005200"/>
            <a:ext cx="235801" cy="6845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</a:p>
        </p:txBody>
      </p:sp>
      <p:sp>
        <p:nvSpPr>
          <p:cNvPr id="344" name="object 9"/>
          <p:cNvSpPr txBox="1"/>
          <p:nvPr/>
        </p:nvSpPr>
        <p:spPr>
          <a:xfrm>
            <a:off x="1814040" y="1988279"/>
            <a:ext cx="11905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User enters words</a:t>
            </a:r>
          </a:p>
        </p:txBody>
      </p:sp>
      <p:sp>
        <p:nvSpPr>
          <p:cNvPr id="345" name="object 10"/>
          <p:cNvSpPr txBox="1"/>
          <p:nvPr/>
        </p:nvSpPr>
        <p:spPr>
          <a:xfrm>
            <a:off x="1814040" y="2260439"/>
            <a:ext cx="182016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Real-time suggestions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Show distance and frequency</a:t>
            </a:r>
          </a:p>
        </p:txBody>
      </p:sp>
      <p:sp>
        <p:nvSpPr>
          <p:cNvPr id="346" name="object 11"/>
          <p:cNvSpPr txBox="1"/>
          <p:nvPr/>
        </p:nvSpPr>
        <p:spPr>
          <a:xfrm>
            <a:off x="1128240" y="2804759"/>
            <a:ext cx="9766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4.</a:t>
            </a:r>
            <a:r>
              <a:rPr spc="712"/>
              <a:t> </a:t>
            </a:r>
            <a:r>
              <a:rPr b="1"/>
              <a:t>GUI Demo</a:t>
            </a:r>
          </a:p>
        </p:txBody>
      </p:sp>
      <p:sp>
        <p:nvSpPr>
          <p:cNvPr id="347" name="object 12"/>
          <p:cNvSpPr txBox="1"/>
          <p:nvPr/>
        </p:nvSpPr>
        <p:spPr>
          <a:xfrm>
            <a:off x="1356840" y="3076919"/>
            <a:ext cx="2246761" cy="2827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./frontend/gui/build/spell_gui</a:t>
            </a:r>
          </a:p>
        </p:txBody>
      </p:sp>
      <p:sp>
        <p:nvSpPr>
          <p:cNvPr id="348" name="object 13"/>
          <p:cNvSpPr txBox="1"/>
          <p:nvPr/>
        </p:nvSpPr>
        <p:spPr>
          <a:xfrm>
            <a:off x="1585440" y="3344040"/>
            <a:ext cx="235801" cy="6845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</a:p>
        </p:txBody>
      </p:sp>
      <p:sp>
        <p:nvSpPr>
          <p:cNvPr id="349" name="object 14"/>
          <p:cNvSpPr txBox="1"/>
          <p:nvPr/>
        </p:nvSpPr>
        <p:spPr>
          <a:xfrm>
            <a:off x="1814040" y="3327120"/>
            <a:ext cx="202032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Type text, see real-time checking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Click suggestions to replace</a:t>
            </a:r>
          </a:p>
        </p:txBody>
      </p:sp>
      <p:sp>
        <p:nvSpPr>
          <p:cNvPr id="350" name="object 15"/>
          <p:cNvSpPr txBox="1"/>
          <p:nvPr/>
        </p:nvSpPr>
        <p:spPr>
          <a:xfrm>
            <a:off x="1814040" y="3871440"/>
            <a:ext cx="22914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Status shows "correct" or suggestions</a:t>
            </a:r>
          </a:p>
        </p:txBody>
      </p:sp>
      <p:sp>
        <p:nvSpPr>
          <p:cNvPr id="351" name="object 16"/>
          <p:cNvSpPr txBox="1"/>
          <p:nvPr/>
        </p:nvSpPr>
        <p:spPr>
          <a:xfrm>
            <a:off x="1128240" y="4143600"/>
            <a:ext cx="18651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5.</a:t>
            </a:r>
            <a:r>
              <a:rPr spc="712"/>
              <a:t> </a:t>
            </a:r>
            <a:r>
              <a:rPr b="1"/>
              <a:t>Key Features Highlighted:</a:t>
            </a:r>
          </a:p>
        </p:txBody>
      </p:sp>
      <p:sp>
        <p:nvSpPr>
          <p:cNvPr id="352" name="object 17"/>
          <p:cNvSpPr txBox="1"/>
          <p:nvPr/>
        </p:nvSpPr>
        <p:spPr>
          <a:xfrm>
            <a:off x="1585440" y="4432320"/>
            <a:ext cx="235801" cy="951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</a:p>
        </p:txBody>
      </p:sp>
      <p:sp>
        <p:nvSpPr>
          <p:cNvPr id="353" name="object 18"/>
          <p:cNvSpPr txBox="1"/>
          <p:nvPr/>
        </p:nvSpPr>
        <p:spPr>
          <a:xfrm>
            <a:off x="1814040" y="4415759"/>
            <a:ext cx="11404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Fast lookup (Trie)</a:t>
            </a:r>
          </a:p>
        </p:txBody>
      </p:sp>
      <p:sp>
        <p:nvSpPr>
          <p:cNvPr id="354" name="object 19"/>
          <p:cNvSpPr txBox="1"/>
          <p:nvPr/>
        </p:nvSpPr>
        <p:spPr>
          <a:xfrm>
            <a:off x="1814040" y="4687920"/>
            <a:ext cx="2277361" cy="687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Accurate suggestions (Edit distance)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Smart ranking (Distance + Frequency)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700"/>
              </a:spcBef>
              <a:defRPr spc="-1" sz="1100"/>
            </a:pPr>
            <a:r>
              <a:t>Modern GUI with autocomplete buttons</a:t>
            </a:r>
          </a:p>
        </p:txBody>
      </p:sp>
      <p:sp>
        <p:nvSpPr>
          <p:cNvPr id="355" name="object 20"/>
          <p:cNvSpPr txBox="1"/>
          <p:nvPr/>
        </p:nvSpPr>
        <p:spPr>
          <a:xfrm>
            <a:off x="899640" y="5560559"/>
            <a:ext cx="142776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Expected Output:</a:t>
            </a:r>
          </a:p>
        </p:txBody>
      </p:sp>
      <p:sp>
        <p:nvSpPr>
          <p:cNvPr id="356" name="object 21"/>
          <p:cNvSpPr txBox="1"/>
          <p:nvPr/>
        </p:nvSpPr>
        <p:spPr>
          <a:xfrm>
            <a:off x="899639" y="5783040"/>
            <a:ext cx="5598362" cy="981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=== Batch Check ===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hello is correct.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helo -&gt; hello (dist=1, freq=30000)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wrold -&gt; world (dist=1, freq=40000)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thier -&gt; their (dist=1, freq=50000), there (dist=1, freq=45000), they (dist=2,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100"/>
              </a:lnSpc>
              <a:defRPr spc="-1" sz="1000">
                <a:latin typeface="Consolas"/>
                <a:ea typeface="Consolas"/>
                <a:cs typeface="Consolas"/>
                <a:sym typeface="Consolas"/>
              </a:defRPr>
            </a:pPr>
            <a:r>
              <a:t>freq=60000)</a:t>
            </a:r>
          </a:p>
        </p:txBody>
      </p:sp>
      <p:sp>
        <p:nvSpPr>
          <p:cNvPr id="357" name="object 22"/>
          <p:cNvSpPr txBox="1"/>
          <p:nvPr/>
        </p:nvSpPr>
        <p:spPr>
          <a:xfrm>
            <a:off x="899640" y="7105680"/>
            <a:ext cx="2899441" cy="190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15: Results and Performance</a:t>
            </a:r>
          </a:p>
        </p:txBody>
      </p:sp>
      <p:sp>
        <p:nvSpPr>
          <p:cNvPr id="358" name="object 23"/>
          <p:cNvSpPr txBox="1"/>
          <p:nvPr/>
        </p:nvSpPr>
        <p:spPr>
          <a:xfrm>
            <a:off x="899640" y="7462080"/>
            <a:ext cx="1675080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Performance Metrics</a:t>
            </a:r>
          </a:p>
        </p:txBody>
      </p:sp>
      <p:sp>
        <p:nvSpPr>
          <p:cNvPr id="359" name="object 24"/>
          <p:cNvSpPr txBox="1"/>
          <p:nvPr/>
        </p:nvSpPr>
        <p:spPr>
          <a:xfrm>
            <a:off x="899640" y="7684559"/>
            <a:ext cx="14677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Dictionary Operations:</a:t>
            </a:r>
          </a:p>
        </p:txBody>
      </p:sp>
      <p:sp>
        <p:nvSpPr>
          <p:cNvPr id="360" name="object 25"/>
          <p:cNvSpPr txBox="1"/>
          <p:nvPr/>
        </p:nvSpPr>
        <p:spPr>
          <a:xfrm>
            <a:off x="1128240" y="7973279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61" name="object 26"/>
          <p:cNvSpPr txBox="1"/>
          <p:nvPr/>
        </p:nvSpPr>
        <p:spPr>
          <a:xfrm>
            <a:off x="1356840" y="7956719"/>
            <a:ext cx="13402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Insert: O(k) per word</a:t>
            </a:r>
          </a:p>
        </p:txBody>
      </p:sp>
      <p:sp>
        <p:nvSpPr>
          <p:cNvPr id="362" name="object 27"/>
          <p:cNvSpPr txBox="1"/>
          <p:nvPr/>
        </p:nvSpPr>
        <p:spPr>
          <a:xfrm>
            <a:off x="1356840" y="8228879"/>
            <a:ext cx="14284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Lookup: O(k) per word</a:t>
            </a:r>
          </a:p>
        </p:txBody>
      </p:sp>
      <p:sp>
        <p:nvSpPr>
          <p:cNvPr id="363" name="object 28"/>
          <p:cNvSpPr txBox="1"/>
          <p:nvPr/>
        </p:nvSpPr>
        <p:spPr>
          <a:xfrm>
            <a:off x="1356840" y="8501040"/>
            <a:ext cx="19785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Memory: Efficient prefix sharing</a:t>
            </a:r>
          </a:p>
        </p:txBody>
      </p:sp>
      <p:sp>
        <p:nvSpPr>
          <p:cNvPr id="364" name="object 29"/>
          <p:cNvSpPr txBox="1"/>
          <p:nvPr/>
        </p:nvSpPr>
        <p:spPr>
          <a:xfrm>
            <a:off x="899640" y="8773200"/>
            <a:ext cx="9270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Fuzzy Search: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object 1"/>
          <p:cNvSpPr/>
          <p:nvPr/>
        </p:nvSpPr>
        <p:spPr>
          <a:xfrm>
            <a:off x="899639" y="494244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67" name="object 3"/>
          <p:cNvSpPr txBox="1"/>
          <p:nvPr/>
        </p:nvSpPr>
        <p:spPr>
          <a:xfrm>
            <a:off x="1128240" y="916560"/>
            <a:ext cx="235801" cy="6845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68" name="object 4"/>
          <p:cNvSpPr txBox="1"/>
          <p:nvPr/>
        </p:nvSpPr>
        <p:spPr>
          <a:xfrm>
            <a:off x="1356840" y="899640"/>
            <a:ext cx="1667520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Time: O(α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× k × |prefixes|)</a:t>
            </a:r>
          </a:p>
        </p:txBody>
      </p:sp>
      <p:sp>
        <p:nvSpPr>
          <p:cNvPr id="369" name="object 5"/>
          <p:cNvSpPr txBox="1"/>
          <p:nvPr/>
        </p:nvSpPr>
        <p:spPr>
          <a:xfrm>
            <a:off x="1356840" y="1171799"/>
            <a:ext cx="278820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Space: O(k × target_length) per recursion level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Pruning: Reduces search space significantly</a:t>
            </a:r>
          </a:p>
        </p:txBody>
      </p:sp>
      <p:sp>
        <p:nvSpPr>
          <p:cNvPr id="370" name="object 6"/>
          <p:cNvSpPr txBox="1"/>
          <p:nvPr/>
        </p:nvSpPr>
        <p:spPr>
          <a:xfrm>
            <a:off x="899640" y="1716120"/>
            <a:ext cx="8838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b="1" spc="-1" sz="1100"/>
            </a:lvl1pPr>
          </a:lstStyle>
          <a:p>
            <a:pPr/>
            <a:r>
              <a:t>Test Results:</a:t>
            </a:r>
          </a:p>
        </p:txBody>
      </p:sp>
      <p:sp>
        <p:nvSpPr>
          <p:cNvPr id="371" name="object 7"/>
          <p:cNvSpPr txBox="1"/>
          <p:nvPr/>
        </p:nvSpPr>
        <p:spPr>
          <a:xfrm>
            <a:off x="1128240" y="2022840"/>
            <a:ext cx="235801" cy="1560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10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72" name="object 8"/>
          <p:cNvSpPr txBox="1"/>
          <p:nvPr/>
        </p:nvSpPr>
        <p:spPr>
          <a:xfrm>
            <a:off x="1356839" y="1988279"/>
            <a:ext cx="2555642" cy="177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147/147 tests passed (100% pass rate)</a:t>
            </a:r>
          </a:p>
        </p:txBody>
      </p:sp>
      <p:sp>
        <p:nvSpPr>
          <p:cNvPr id="373" name="object 9"/>
          <p:cNvSpPr txBox="1"/>
          <p:nvPr/>
        </p:nvSpPr>
        <p:spPr>
          <a:xfrm>
            <a:off x="1356840" y="2278079"/>
            <a:ext cx="2417761" cy="177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100"/>
            </a:lvl1pPr>
          </a:lstStyle>
          <a:p>
            <a:pPr>
              <a:defRPr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No memory leaks (Valgrind verified)</a:t>
            </a:r>
          </a:p>
        </p:txBody>
      </p:sp>
      <p:sp>
        <p:nvSpPr>
          <p:cNvPr id="374" name="object 10"/>
          <p:cNvSpPr txBox="1"/>
          <p:nvPr/>
        </p:nvSpPr>
        <p:spPr>
          <a:xfrm>
            <a:off x="1356839" y="2568239"/>
            <a:ext cx="3437642" cy="9772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Handles 10,000-node synthetic stress tests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Fast response time (&lt; 0.01s for typical queries)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Trie search designed for 100K+ dictionary challenge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400"/>
              </a:lnSpc>
              <a:spcBef>
                <a:spcPts val="700"/>
              </a:spcBef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>
                <a:latin typeface="Calibri"/>
                <a:ea typeface="Calibri"/>
                <a:cs typeface="Calibri"/>
                <a:sym typeface="Calibri"/>
              </a:rPr>
              <a:t>Performance tests included (stress and memory tests)</a:t>
            </a:r>
          </a:p>
        </p:txBody>
      </p:sp>
      <p:sp>
        <p:nvSpPr>
          <p:cNvPr id="375" name="object 11"/>
          <p:cNvSpPr txBox="1"/>
          <p:nvPr/>
        </p:nvSpPr>
        <p:spPr>
          <a:xfrm>
            <a:off x="899640" y="3783600"/>
            <a:ext cx="98712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Limitations:</a:t>
            </a:r>
          </a:p>
        </p:txBody>
      </p:sp>
      <p:sp>
        <p:nvSpPr>
          <p:cNvPr id="376" name="object 12"/>
          <p:cNvSpPr txBox="1"/>
          <p:nvPr/>
        </p:nvSpPr>
        <p:spPr>
          <a:xfrm>
            <a:off x="1128240" y="4023000"/>
            <a:ext cx="235801" cy="684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77" name="object 13"/>
          <p:cNvSpPr txBox="1"/>
          <p:nvPr/>
        </p:nvSpPr>
        <p:spPr>
          <a:xfrm>
            <a:off x="1356840" y="4006439"/>
            <a:ext cx="30236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No transposition operation (standard Levenshtein)</a:t>
            </a:r>
          </a:p>
        </p:txBody>
      </p:sp>
      <p:sp>
        <p:nvSpPr>
          <p:cNvPr id="378" name="object 14"/>
          <p:cNvSpPr txBox="1"/>
          <p:nvPr/>
        </p:nvSpPr>
        <p:spPr>
          <a:xfrm>
            <a:off x="1356840" y="4278240"/>
            <a:ext cx="204948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Single-threaded (no concurrency)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Fixed buffer size for suggestions</a:t>
            </a:r>
          </a:p>
        </p:txBody>
      </p:sp>
      <p:sp>
        <p:nvSpPr>
          <p:cNvPr id="379" name="object 15"/>
          <p:cNvSpPr txBox="1"/>
          <p:nvPr/>
        </p:nvSpPr>
        <p:spPr>
          <a:xfrm>
            <a:off x="899640" y="5151599"/>
            <a:ext cx="1773000" cy="190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16: Conclusion</a:t>
            </a:r>
          </a:p>
        </p:txBody>
      </p:sp>
      <p:sp>
        <p:nvSpPr>
          <p:cNvPr id="380" name="object 16"/>
          <p:cNvSpPr txBox="1"/>
          <p:nvPr/>
        </p:nvSpPr>
        <p:spPr>
          <a:xfrm>
            <a:off x="899640" y="5507999"/>
            <a:ext cx="174888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Project Achievements</a:t>
            </a:r>
          </a:p>
        </p:txBody>
      </p:sp>
      <p:sp>
        <p:nvSpPr>
          <p:cNvPr id="381" name="object 17"/>
          <p:cNvSpPr txBox="1"/>
          <p:nvPr/>
        </p:nvSpPr>
        <p:spPr>
          <a:xfrm>
            <a:off x="899640" y="5730480"/>
            <a:ext cx="1789921" cy="177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>
                <a:latin typeface="Calibri"/>
                <a:ea typeface="Calibri"/>
                <a:cs typeface="Calibri"/>
                <a:sym typeface="Calibri"/>
              </a:rPr>
              <a:t>Custom Data Structures:</a:t>
            </a:r>
          </a:p>
        </p:txBody>
      </p:sp>
      <p:sp>
        <p:nvSpPr>
          <p:cNvPr id="382" name="object 18"/>
          <p:cNvSpPr txBox="1"/>
          <p:nvPr/>
        </p:nvSpPr>
        <p:spPr>
          <a:xfrm>
            <a:off x="1128240" y="6036840"/>
            <a:ext cx="235801" cy="4305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83" name="object 19"/>
          <p:cNvSpPr txBox="1"/>
          <p:nvPr/>
        </p:nvSpPr>
        <p:spPr>
          <a:xfrm>
            <a:off x="1356840" y="6020279"/>
            <a:ext cx="300924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Trie (prefix tree) with LinkedList children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Pointer-based implementation (no STL containers)</a:t>
            </a:r>
          </a:p>
        </p:txBody>
      </p:sp>
      <p:sp>
        <p:nvSpPr>
          <p:cNvPr id="384" name="object 20"/>
          <p:cNvSpPr txBox="1"/>
          <p:nvPr/>
        </p:nvSpPr>
        <p:spPr>
          <a:xfrm>
            <a:off x="899640" y="6564600"/>
            <a:ext cx="1559881" cy="177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>
                <a:latin typeface="Calibri"/>
                <a:ea typeface="Calibri"/>
                <a:cs typeface="Calibri"/>
                <a:sym typeface="Calibri"/>
              </a:rPr>
              <a:t>Efficient Algorithms:</a:t>
            </a:r>
          </a:p>
        </p:txBody>
      </p:sp>
      <p:sp>
        <p:nvSpPr>
          <p:cNvPr id="385" name="object 21"/>
          <p:cNvSpPr txBox="1"/>
          <p:nvPr/>
        </p:nvSpPr>
        <p:spPr>
          <a:xfrm>
            <a:off x="1128240" y="6871320"/>
            <a:ext cx="235801" cy="430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86" name="object 22"/>
          <p:cNvSpPr txBox="1"/>
          <p:nvPr/>
        </p:nvSpPr>
        <p:spPr>
          <a:xfrm>
            <a:off x="1356840" y="6854400"/>
            <a:ext cx="264564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Levenshtein distance with early termination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Trie-guided fuzzy search with pruning</a:t>
            </a:r>
          </a:p>
        </p:txBody>
      </p:sp>
      <p:sp>
        <p:nvSpPr>
          <p:cNvPr id="387" name="object 23"/>
          <p:cNvSpPr txBox="1"/>
          <p:nvPr/>
        </p:nvSpPr>
        <p:spPr>
          <a:xfrm>
            <a:off x="899640" y="7398719"/>
            <a:ext cx="1427041" cy="177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b="1" spc="-1" sz="1100"/>
            </a:lvl1pPr>
          </a:lstStyle>
          <a:p>
            <a:pPr>
              <a:defRPr b="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b="1">
                <a:latin typeface="Calibri"/>
                <a:ea typeface="Calibri"/>
                <a:cs typeface="Calibri"/>
                <a:sym typeface="Calibri"/>
              </a:rPr>
              <a:t>Complete System:</a:t>
            </a:r>
          </a:p>
        </p:txBody>
      </p:sp>
      <p:sp>
        <p:nvSpPr>
          <p:cNvPr id="388" name="object 24"/>
          <p:cNvSpPr txBox="1"/>
          <p:nvPr/>
        </p:nvSpPr>
        <p:spPr>
          <a:xfrm>
            <a:off x="1128240" y="7705439"/>
            <a:ext cx="235801" cy="1205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89" name="object 25"/>
          <p:cNvSpPr txBox="1"/>
          <p:nvPr/>
        </p:nvSpPr>
        <p:spPr>
          <a:xfrm>
            <a:off x="1356840" y="7688519"/>
            <a:ext cx="1921320" cy="332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Spell checking, correction, and autocomplete</a:t>
            </a:r>
          </a:p>
        </p:txBody>
      </p:sp>
      <p:sp>
        <p:nvSpPr>
          <p:cNvPr id="390" name="object 26"/>
          <p:cNvSpPr txBox="1"/>
          <p:nvPr/>
        </p:nvSpPr>
        <p:spPr>
          <a:xfrm>
            <a:off x="1356840" y="7960679"/>
            <a:ext cx="165708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Required Qt6 GUI interface</a:t>
            </a:r>
          </a:p>
        </p:txBody>
      </p:sp>
      <p:sp>
        <p:nvSpPr>
          <p:cNvPr id="391" name="object 27"/>
          <p:cNvSpPr txBox="1"/>
          <p:nvPr/>
        </p:nvSpPr>
        <p:spPr>
          <a:xfrm>
            <a:off x="1356840" y="8232840"/>
            <a:ext cx="1722961" cy="332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Modern GUI with autocomplete buttons (Qt6)</a:t>
            </a:r>
          </a:p>
        </p:txBody>
      </p:sp>
      <p:sp>
        <p:nvSpPr>
          <p:cNvPr id="392" name="object 28"/>
          <p:cNvSpPr txBox="1"/>
          <p:nvPr/>
        </p:nvSpPr>
        <p:spPr>
          <a:xfrm>
            <a:off x="1356840" y="8505000"/>
            <a:ext cx="456696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Comprehensive testing (147 tests: unit, integration, edge cases, performance)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Stress-tested with 10K synthetic words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object 1"/>
          <p:cNvSpPr/>
          <p:nvPr/>
        </p:nvSpPr>
        <p:spPr>
          <a:xfrm>
            <a:off x="899639" y="4588200"/>
            <a:ext cx="5972402" cy="1872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5" name="object 2"/>
          <p:cNvSpPr/>
          <p:nvPr/>
        </p:nvSpPr>
        <p:spPr>
          <a:xfrm>
            <a:off x="-230" y="-230"/>
            <a:ext cx="12701" cy="12701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 lIns="0" tIns="0" rIns="0" bIns="0"/>
          <a:lstStyle/>
          <a:p>
            <a:pPr>
              <a:defRPr spc="-1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6" name="object 4"/>
          <p:cNvSpPr txBox="1"/>
          <p:nvPr/>
        </p:nvSpPr>
        <p:spPr>
          <a:xfrm>
            <a:off x="899640" y="899640"/>
            <a:ext cx="1676881" cy="177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400"/>
              </a:lnSpc>
              <a:defRPr spc="-1" sz="1100">
                <a:latin typeface="Segoe UI Emoji"/>
                <a:ea typeface="Segoe UI Emoji"/>
                <a:cs typeface="Segoe UI Emoji"/>
                <a:sym typeface="Segoe UI Emoji"/>
              </a:defRPr>
            </a:pPr>
            <a:r>
              <a:rPr spc="-26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>
                <a:latin typeface="Calibri"/>
                <a:ea typeface="Calibri"/>
                <a:cs typeface="Calibri"/>
                <a:sym typeface="Calibri"/>
              </a:rPr>
              <a:t>Professional Practices:</a:t>
            </a:r>
          </a:p>
        </p:txBody>
      </p:sp>
      <p:sp>
        <p:nvSpPr>
          <p:cNvPr id="397" name="object 5"/>
          <p:cNvSpPr txBox="1"/>
          <p:nvPr/>
        </p:nvSpPr>
        <p:spPr>
          <a:xfrm>
            <a:off x="1128240" y="1206359"/>
            <a:ext cx="235801" cy="1205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398" name="object 6"/>
          <p:cNvSpPr txBox="1"/>
          <p:nvPr/>
        </p:nvSpPr>
        <p:spPr>
          <a:xfrm>
            <a:off x="1356840" y="1189799"/>
            <a:ext cx="15494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Doxygen documentation</a:t>
            </a:r>
          </a:p>
        </p:txBody>
      </p:sp>
      <p:sp>
        <p:nvSpPr>
          <p:cNvPr id="399" name="object 7"/>
          <p:cNvSpPr txBox="1"/>
          <p:nvPr/>
        </p:nvSpPr>
        <p:spPr>
          <a:xfrm>
            <a:off x="1356840" y="1461959"/>
            <a:ext cx="348732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Modular code organization (data_structures/, core/, utils/)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Makefile + CMake build system</a:t>
            </a:r>
          </a:p>
        </p:txBody>
      </p:sp>
      <p:sp>
        <p:nvSpPr>
          <p:cNvPr id="400" name="object 8"/>
          <p:cNvSpPr txBox="1"/>
          <p:nvPr/>
        </p:nvSpPr>
        <p:spPr>
          <a:xfrm>
            <a:off x="1356840" y="2005919"/>
            <a:ext cx="326880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Proper project structure (PDF requirements compliant)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Code formatting (clang-format)</a:t>
            </a:r>
          </a:p>
        </p:txBody>
      </p:sp>
      <p:sp>
        <p:nvSpPr>
          <p:cNvPr id="401" name="object 9"/>
          <p:cNvSpPr txBox="1"/>
          <p:nvPr/>
        </p:nvSpPr>
        <p:spPr>
          <a:xfrm>
            <a:off x="899640" y="2606400"/>
            <a:ext cx="176688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Future Improvements:</a:t>
            </a:r>
          </a:p>
        </p:txBody>
      </p:sp>
      <p:sp>
        <p:nvSpPr>
          <p:cNvPr id="402" name="object 10"/>
          <p:cNvSpPr txBox="1"/>
          <p:nvPr/>
        </p:nvSpPr>
        <p:spPr>
          <a:xfrm>
            <a:off x="1128240" y="2845799"/>
            <a:ext cx="235801" cy="9512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8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-</a:t>
            </a:r>
          </a:p>
        </p:txBody>
      </p:sp>
      <p:sp>
        <p:nvSpPr>
          <p:cNvPr id="403" name="object 11"/>
          <p:cNvSpPr txBox="1"/>
          <p:nvPr/>
        </p:nvSpPr>
        <p:spPr>
          <a:xfrm>
            <a:off x="1356840" y="2829239"/>
            <a:ext cx="31172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Add transposition operation (Damerau-Levenshtein)</a:t>
            </a:r>
          </a:p>
        </p:txBody>
      </p:sp>
      <p:sp>
        <p:nvSpPr>
          <p:cNvPr id="404" name="object 12"/>
          <p:cNvSpPr txBox="1"/>
          <p:nvPr/>
        </p:nvSpPr>
        <p:spPr>
          <a:xfrm>
            <a:off x="1356840" y="3101400"/>
            <a:ext cx="19047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Support for multiple languages</a:t>
            </a:r>
          </a:p>
        </p:txBody>
      </p:sp>
      <p:sp>
        <p:nvSpPr>
          <p:cNvPr id="405" name="object 13"/>
          <p:cNvSpPr txBox="1"/>
          <p:nvPr/>
        </p:nvSpPr>
        <p:spPr>
          <a:xfrm>
            <a:off x="1356840" y="3373199"/>
            <a:ext cx="263484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Concurrent processing for large dictionaries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Dictionary learning from user corrections</a:t>
            </a:r>
          </a:p>
        </p:txBody>
      </p:sp>
      <p:sp>
        <p:nvSpPr>
          <p:cNvPr id="406" name="object 16"/>
          <p:cNvSpPr txBox="1"/>
          <p:nvPr/>
        </p:nvSpPr>
        <p:spPr>
          <a:xfrm>
            <a:off x="899639" y="4797359"/>
            <a:ext cx="3334322" cy="190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500"/>
              </a:lnSpc>
              <a:defRPr spc="-1"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Slide 17: Technical Diagrams Reference</a:t>
            </a:r>
          </a:p>
        </p:txBody>
      </p:sp>
      <p:sp>
        <p:nvSpPr>
          <p:cNvPr id="407" name="object 17"/>
          <p:cNvSpPr txBox="1"/>
          <p:nvPr/>
        </p:nvSpPr>
        <p:spPr>
          <a:xfrm>
            <a:off x="870300" y="5086513"/>
            <a:ext cx="1666081" cy="1772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400"/>
              </a:lnSpc>
              <a:defRPr spc="-1" sz="13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Diagrams to Include:</a:t>
            </a:r>
          </a:p>
        </p:txBody>
      </p:sp>
      <p:sp>
        <p:nvSpPr>
          <p:cNvPr id="408" name="object 18"/>
          <p:cNvSpPr txBox="1"/>
          <p:nvPr/>
        </p:nvSpPr>
        <p:spPr>
          <a:xfrm>
            <a:off x="1083239" y="5298297"/>
            <a:ext cx="3500282" cy="332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1.</a:t>
            </a:r>
            <a:r>
              <a:rPr spc="712"/>
              <a:t> </a:t>
            </a:r>
            <a:r>
              <a:rPr b="1"/>
              <a:t>Class Diagram </a:t>
            </a:r>
            <a:r>
              <a:t>(from </a:t>
            </a:r>
            <a:r>
              <a:rPr sz="1000">
                <a:solidFill>
                  <a:srgbClr val="C7254E"/>
                </a:solidFill>
                <a:latin typeface="Consolas"/>
                <a:ea typeface="Consolas"/>
                <a:cs typeface="Consolas"/>
                <a:sym typeface="Consolas"/>
              </a:rPr>
              <a:t>docs/uml/class_diagram.puml</a:t>
            </a:r>
            <a:r>
              <a:t>)</a:t>
            </a:r>
          </a:p>
        </p:txBody>
      </p:sp>
      <p:sp>
        <p:nvSpPr>
          <p:cNvPr id="409" name="object 19"/>
          <p:cNvSpPr txBox="1"/>
          <p:nvPr/>
        </p:nvSpPr>
        <p:spPr>
          <a:xfrm>
            <a:off x="1585440" y="5664960"/>
            <a:ext cx="235801" cy="4305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</a:p>
        </p:txBody>
      </p:sp>
      <p:sp>
        <p:nvSpPr>
          <p:cNvPr id="410" name="object 20"/>
          <p:cNvSpPr txBox="1"/>
          <p:nvPr/>
        </p:nvSpPr>
        <p:spPr>
          <a:xfrm>
            <a:off x="1804860" y="5664960"/>
            <a:ext cx="2057040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Show all classes and relationships</a:t>
            </a:r>
          </a:p>
        </p:txBody>
      </p:sp>
      <p:sp>
        <p:nvSpPr>
          <p:cNvPr id="411" name="object 21"/>
          <p:cNvSpPr txBox="1"/>
          <p:nvPr/>
        </p:nvSpPr>
        <p:spPr>
          <a:xfrm>
            <a:off x="1814040" y="5920559"/>
            <a:ext cx="276984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Include inheritance, composition, associations</a:t>
            </a:r>
          </a:p>
        </p:txBody>
      </p:sp>
      <p:sp>
        <p:nvSpPr>
          <p:cNvPr id="412" name="object 22"/>
          <p:cNvSpPr txBox="1"/>
          <p:nvPr/>
        </p:nvSpPr>
        <p:spPr>
          <a:xfrm>
            <a:off x="1109700" y="6134399"/>
            <a:ext cx="3981601" cy="332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2.</a:t>
            </a:r>
            <a:r>
              <a:rPr spc="712"/>
              <a:t> </a:t>
            </a:r>
            <a:r>
              <a:rPr b="1"/>
              <a:t>Sequence Diagram </a:t>
            </a:r>
            <a:r>
              <a:t>(from </a:t>
            </a:r>
            <a:r>
              <a:rPr sz="1000">
                <a:solidFill>
                  <a:srgbClr val="C7254E"/>
                </a:solidFill>
                <a:latin typeface="Consolas"/>
                <a:ea typeface="Consolas"/>
                <a:cs typeface="Consolas"/>
                <a:sym typeface="Consolas"/>
              </a:rPr>
              <a:t>docs/uml/sequence_diagram.puml</a:t>
            </a:r>
            <a:r>
              <a:t>)</a:t>
            </a:r>
          </a:p>
        </p:txBody>
      </p:sp>
      <p:sp>
        <p:nvSpPr>
          <p:cNvPr id="413" name="object 23"/>
          <p:cNvSpPr txBox="1"/>
          <p:nvPr/>
        </p:nvSpPr>
        <p:spPr>
          <a:xfrm>
            <a:off x="1585440" y="6481440"/>
            <a:ext cx="235801" cy="4305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</a:p>
        </p:txBody>
      </p:sp>
      <p:sp>
        <p:nvSpPr>
          <p:cNvPr id="414" name="object 24"/>
          <p:cNvSpPr txBox="1"/>
          <p:nvPr/>
        </p:nvSpPr>
        <p:spPr>
          <a:xfrm>
            <a:off x="1814040" y="6464879"/>
            <a:ext cx="2510280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Main workflow: Load →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Check →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Suggest</a:t>
            </a:r>
          </a:p>
        </p:txBody>
      </p:sp>
      <p:sp>
        <p:nvSpPr>
          <p:cNvPr id="415" name="object 25"/>
          <p:cNvSpPr txBox="1"/>
          <p:nvPr/>
        </p:nvSpPr>
        <p:spPr>
          <a:xfrm>
            <a:off x="1814040" y="6737039"/>
            <a:ext cx="2446200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Show interactions between components</a:t>
            </a:r>
          </a:p>
        </p:txBody>
      </p:sp>
      <p:sp>
        <p:nvSpPr>
          <p:cNvPr id="416" name="object 26"/>
          <p:cNvSpPr txBox="1"/>
          <p:nvPr/>
        </p:nvSpPr>
        <p:spPr>
          <a:xfrm>
            <a:off x="1128240" y="7009200"/>
            <a:ext cx="16981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3.</a:t>
            </a:r>
            <a:r>
              <a:rPr spc="712"/>
              <a:t> </a:t>
            </a:r>
            <a:r>
              <a:rPr b="1"/>
              <a:t>Trie Structure Diagram</a:t>
            </a:r>
          </a:p>
        </p:txBody>
      </p:sp>
      <p:sp>
        <p:nvSpPr>
          <p:cNvPr id="417" name="object 27"/>
          <p:cNvSpPr txBox="1"/>
          <p:nvPr/>
        </p:nvSpPr>
        <p:spPr>
          <a:xfrm>
            <a:off x="1585440" y="7297919"/>
            <a:ext cx="235801" cy="4305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</a:p>
        </p:txBody>
      </p:sp>
      <p:sp>
        <p:nvSpPr>
          <p:cNvPr id="418" name="object 28"/>
          <p:cNvSpPr txBox="1"/>
          <p:nvPr/>
        </p:nvSpPr>
        <p:spPr>
          <a:xfrm>
            <a:off x="1814040" y="7281360"/>
            <a:ext cx="2415961" cy="4337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Visual representation of Trie nodes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Example: "hello", "help", "world" in Trie</a:t>
            </a:r>
          </a:p>
        </p:txBody>
      </p:sp>
      <p:sp>
        <p:nvSpPr>
          <p:cNvPr id="419" name="object 29"/>
          <p:cNvSpPr txBox="1"/>
          <p:nvPr/>
        </p:nvSpPr>
        <p:spPr>
          <a:xfrm>
            <a:off x="1128240" y="7825320"/>
            <a:ext cx="148572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4.</a:t>
            </a:r>
            <a:r>
              <a:rPr spc="712"/>
              <a:t> </a:t>
            </a:r>
            <a:r>
              <a:rPr b="1"/>
              <a:t>Data Flow Diagram</a:t>
            </a:r>
          </a:p>
        </p:txBody>
      </p:sp>
      <p:sp>
        <p:nvSpPr>
          <p:cNvPr id="420" name="object 30"/>
          <p:cNvSpPr txBox="1"/>
          <p:nvPr/>
        </p:nvSpPr>
        <p:spPr>
          <a:xfrm>
            <a:off x="1585440" y="8114400"/>
            <a:ext cx="235801" cy="4305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200"/>
              </a:lnSpc>
              <a:spcBef>
                <a:spcPts val="900"/>
              </a:spcBef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</a:t>
            </a:r>
          </a:p>
        </p:txBody>
      </p:sp>
      <p:sp>
        <p:nvSpPr>
          <p:cNvPr id="421" name="object 31"/>
          <p:cNvSpPr txBox="1"/>
          <p:nvPr/>
        </p:nvSpPr>
        <p:spPr>
          <a:xfrm>
            <a:off x="1743480" y="7995459"/>
            <a:ext cx="2714041" cy="59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Input →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Parser →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Trie →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SpellChecker →</a:t>
            </a:r>
            <a:r>
              <a:rPr spc="-29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GUI/CLI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ts val="1300"/>
              </a:lnSpc>
              <a:spcBef>
                <a:spcPts val="800"/>
              </a:spcBef>
              <a:defRPr spc="-1" sz="1100"/>
            </a:pPr>
            <a:r>
              <a:t>Show data transformations</a:t>
            </a:r>
          </a:p>
        </p:txBody>
      </p:sp>
      <p:sp>
        <p:nvSpPr>
          <p:cNvPr id="422" name="object 32"/>
          <p:cNvSpPr txBox="1"/>
          <p:nvPr/>
        </p:nvSpPr>
        <p:spPr>
          <a:xfrm>
            <a:off x="1128240" y="8641799"/>
            <a:ext cx="157176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ts val="1300"/>
              </a:lnSpc>
              <a:defRPr spc="-1" sz="1100"/>
            </a:pPr>
            <a:r>
              <a:t>5.</a:t>
            </a:r>
            <a:r>
              <a:rPr spc="712"/>
              <a:t> </a:t>
            </a:r>
            <a:r>
              <a:rPr b="1"/>
              <a:t>Algorithm Flowchart</a:t>
            </a:r>
          </a:p>
        </p:txBody>
      </p:sp>
      <p:sp>
        <p:nvSpPr>
          <p:cNvPr id="423" name="object 33"/>
          <p:cNvSpPr txBox="1"/>
          <p:nvPr/>
        </p:nvSpPr>
        <p:spPr>
          <a:xfrm>
            <a:off x="1585440" y="8930879"/>
            <a:ext cx="235801" cy="163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o</a:t>
            </a:r>
          </a:p>
        </p:txBody>
      </p:sp>
      <p:sp>
        <p:nvSpPr>
          <p:cNvPr id="424" name="object 34"/>
          <p:cNvSpPr txBox="1"/>
          <p:nvPr/>
        </p:nvSpPr>
        <p:spPr>
          <a:xfrm>
            <a:off x="1814040" y="8913959"/>
            <a:ext cx="1780201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Fuzzy search algorithm steps</a:t>
            </a:r>
          </a:p>
        </p:txBody>
      </p:sp>
      <p:sp>
        <p:nvSpPr>
          <p:cNvPr id="425" name="object 45"/>
          <p:cNvSpPr txBox="1"/>
          <p:nvPr/>
        </p:nvSpPr>
        <p:spPr>
          <a:xfrm>
            <a:off x="1572479" y="9211319"/>
            <a:ext cx="235801" cy="1638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200"/>
              </a:lnSpc>
              <a:defRPr spc="-1" sz="1100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o</a:t>
            </a:r>
          </a:p>
        </p:txBody>
      </p:sp>
      <p:sp>
        <p:nvSpPr>
          <p:cNvPr id="426" name="object 46"/>
          <p:cNvSpPr txBox="1"/>
          <p:nvPr/>
        </p:nvSpPr>
        <p:spPr>
          <a:xfrm>
            <a:off x="1801080" y="9211319"/>
            <a:ext cx="2064600" cy="16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ts val="1300"/>
              </a:lnSpc>
              <a:defRPr spc="-1" sz="1100"/>
            </a:lvl1pPr>
          </a:lstStyle>
          <a:p>
            <a:pPr/>
            <a:r>
              <a:t>Decision points (pruning, ranking)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Theme Office">
  <a:themeElements>
    <a:clrScheme name="Them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Theme Offic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Them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Theme Office">
  <a:themeElements>
    <a:clrScheme name="Them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Theme Offic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Them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