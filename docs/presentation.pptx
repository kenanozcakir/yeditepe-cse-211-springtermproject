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  <Override PartName="/ppt/media/image2.jpeg" ContentType="image/jpeg"/>
  <Override PartName="/ppt/media/image8.png" ContentType="image/png"/>
  <Override PartName="/ppt/media/image3.jpeg" ContentType="image/jpeg"/>
  <Override PartName="/ppt/media/image4.jpeg" ContentType="image/jpeg"/>
  <Override PartName="/ppt/media/image11.png" ContentType="image/png"/>
  <Override PartName="/ppt/media/image5.jpeg" ContentType="image/jpeg"/>
  <Override PartName="/ppt/media/image7.png" ContentType="image/png"/>
  <Override PartName="/ppt/media/image6.jpeg" ContentType="image/jpeg"/>
  <Override PartName="/ppt/media/image9.png" ContentType="image/png"/>
  <Override PartName="/ppt/media/image10.png" ContentType="image/png"/>
  <Override PartName="/ppt/media/image12.jpeg" ContentType="image/jpeg"/>
  <Override PartName="/ppt/media/image13.jpeg" ContentType="image/jpeg"/>
  <Override PartName="/ppt/media/image14.jpeg" ContentType="image/jpeg"/>
  <Override PartName="/ppt/media/image1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7772400" cy="100584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arsayı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77640" y="427680"/>
            <a:ext cx="6797520" cy="171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377640" y="2459520"/>
            <a:ext cx="6797520" cy="705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54E5DA-34AD-4B8B-959A-91AA24CF6D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77640" y="427680"/>
            <a:ext cx="6797520" cy="171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Title</a:t>
            </a:r>
            <a:endParaRPr b="0" lang="tr-T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77640" y="2459520"/>
            <a:ext cx="6797520" cy="705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Text</a:t>
            </a:r>
            <a:endParaRPr b="0" lang="tr-TR" sz="1800" spc="-1" strike="noStrike">
              <a:solidFill>
                <a:srgbClr val="000000"/>
              </a:solidFill>
              <a:latin typeface="Calibri"/>
            </a:endParaRPr>
          </a:p>
          <a:p>
            <a:pPr marL="457200" indent="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tr-TR" sz="1800" spc="-1" strike="noStrike">
              <a:solidFill>
                <a:srgbClr val="000000"/>
              </a:solidFill>
              <a:latin typeface="Calibri"/>
            </a:endParaRPr>
          </a:p>
          <a:p>
            <a:pPr marL="914400" indent="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tr-TR" sz="1800" spc="-1" strike="noStrike">
              <a:solidFill>
                <a:srgbClr val="000000"/>
              </a:solidFill>
              <a:latin typeface="Calibri"/>
            </a:endParaRPr>
          </a:p>
          <a:p>
            <a:pPr marL="1371600" indent="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tr-TR" sz="1800" spc="-1" strike="noStrike">
              <a:solidFill>
                <a:srgbClr val="000000"/>
              </a:solidFill>
              <a:latin typeface="Calibri"/>
            </a:endParaRPr>
          </a:p>
          <a:p>
            <a:pPr marL="1828800" indent="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tr-T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377640" y="9945000"/>
            <a:ext cx="173700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 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2568240" y="9945000"/>
            <a:ext cx="2416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5438520" y="9945000"/>
            <a:ext cx="173700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279C0D5-4255-4237-BE8B-C8FCF1766A3A}" type="slidenum">
              <a: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.jpe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.jpe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.jpeg"/><Relationship Id="rId3" Type="http://schemas.openxmlformats.org/officeDocument/2006/relationships/image" Target="../media/image13.jpeg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4.jpe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2.jpeg"/><Relationship Id="rId3" Type="http://schemas.openxmlformats.org/officeDocument/2006/relationships/image" Target="../media/image14.jpeg"/><Relationship Id="rId4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"/>
          <p:cNvSpPr/>
          <p:nvPr/>
        </p:nvSpPr>
        <p:spPr>
          <a:xfrm>
            <a:off x="899640" y="3693960"/>
            <a:ext cx="5972400" cy="187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object 2"/>
          <p:cNvSpPr/>
          <p:nvPr/>
        </p:nvSpPr>
        <p:spPr>
          <a:xfrm>
            <a:off x="899640" y="1800720"/>
            <a:ext cx="5972400" cy="187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object 4"/>
          <p:cNvSpPr/>
          <p:nvPr/>
        </p:nvSpPr>
        <p:spPr>
          <a:xfrm>
            <a:off x="899640" y="1058760"/>
            <a:ext cx="4217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786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Arial"/>
              </a:rPr>
              <a:t>CSE211-PROJ25: Spell Checker &amp; Corrector</a:t>
            </a: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object 5"/>
          <p:cNvSpPr/>
          <p:nvPr/>
        </p:nvSpPr>
        <p:spPr>
          <a:xfrm>
            <a:off x="899640" y="1443960"/>
            <a:ext cx="23562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565"/>
              </a:lnSpc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Presentation Slides Content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object 6"/>
          <p:cNvSpPr/>
          <p:nvPr/>
        </p:nvSpPr>
        <p:spPr>
          <a:xfrm>
            <a:off x="899640" y="2009520"/>
            <a:ext cx="2608920" cy="40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565"/>
              </a:lnSpc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Slide 1: Title Slide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300"/>
              </a:spcBef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CSE211-PROJ25: Spell Checker &amp; Corrector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object 7"/>
          <p:cNvSpPr/>
          <p:nvPr/>
        </p:nvSpPr>
        <p:spPr>
          <a:xfrm>
            <a:off x="899640" y="2518560"/>
            <a:ext cx="18327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Data Structures Term Project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object 8"/>
          <p:cNvSpPr/>
          <p:nvPr/>
        </p:nvSpPr>
        <p:spPr>
          <a:xfrm>
            <a:off x="899640" y="2790720"/>
            <a:ext cx="10551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Group: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PROJ-25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object 9"/>
          <p:cNvSpPr/>
          <p:nvPr/>
        </p:nvSpPr>
        <p:spPr>
          <a:xfrm>
            <a:off x="899640" y="2961000"/>
            <a:ext cx="60332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Members: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BETÜL ÇAĞRİL , EMİR KEREM IŞILDAR , EDA GÜL ÇETİNEL , KENAN ÖZÇAKIR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51"/>
              </a:spcBef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Course: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CSE 211 - Data Structures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Semester: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2025-2026 Spring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object 10"/>
          <p:cNvSpPr/>
          <p:nvPr/>
        </p:nvSpPr>
        <p:spPr>
          <a:xfrm>
            <a:off x="899640" y="3903120"/>
            <a:ext cx="2138400" cy="5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565"/>
              </a:lnSpc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Slide 2: Project Overview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451"/>
              </a:lnSpc>
              <a:spcBef>
                <a:spcPts val="1242"/>
              </a:spcBef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Problem Statement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object 11"/>
          <p:cNvSpPr/>
          <p:nvPr/>
        </p:nvSpPr>
        <p:spPr>
          <a:xfrm>
            <a:off x="1128240" y="449892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object 12"/>
          <p:cNvSpPr/>
          <p:nvPr/>
        </p:nvSpPr>
        <p:spPr>
          <a:xfrm>
            <a:off x="1356840" y="4482000"/>
            <a:ext cx="314460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Build a spell checker that identifies misspelled words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Suggest corrections using edit distance algorithm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799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Handle large dictionaries efficiently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object 13"/>
          <p:cNvSpPr/>
          <p:nvPr/>
        </p:nvSpPr>
        <p:spPr>
          <a:xfrm>
            <a:off x="899640" y="5354640"/>
            <a:ext cx="9226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Objectives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object 14"/>
          <p:cNvSpPr/>
          <p:nvPr/>
        </p:nvSpPr>
        <p:spPr>
          <a:xfrm>
            <a:off x="1128240" y="5594040"/>
            <a:ext cx="235800" cy="9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object 15"/>
          <p:cNvSpPr/>
          <p:nvPr/>
        </p:nvSpPr>
        <p:spPr>
          <a:xfrm>
            <a:off x="1356840" y="5577120"/>
            <a:ext cx="30826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Implement custom data structures (Trie, LinkedList)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object 16"/>
          <p:cNvSpPr/>
          <p:nvPr/>
        </p:nvSpPr>
        <p:spPr>
          <a:xfrm>
            <a:off x="1356840" y="5849280"/>
            <a:ext cx="361260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Use Levenshtein distance for word similarity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Provide ranked suggestions based on distance and frequency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799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Provide Qt6 visual GUI with autocomplete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object 17"/>
          <p:cNvSpPr/>
          <p:nvPr/>
        </p:nvSpPr>
        <p:spPr>
          <a:xfrm>
            <a:off x="899640" y="6721920"/>
            <a:ext cx="11340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Key Features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object 18"/>
          <p:cNvSpPr/>
          <p:nvPr/>
        </p:nvSpPr>
        <p:spPr>
          <a:xfrm>
            <a:off x="1128240" y="6978960"/>
            <a:ext cx="235800" cy="16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108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108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108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108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108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object 19"/>
          <p:cNvSpPr/>
          <p:nvPr/>
        </p:nvSpPr>
        <p:spPr>
          <a:xfrm>
            <a:off x="1356840" y="6944400"/>
            <a:ext cx="221904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63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O(k) dictionary lookup using Trie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object 20"/>
          <p:cNvSpPr/>
          <p:nvPr/>
        </p:nvSpPr>
        <p:spPr>
          <a:xfrm>
            <a:off x="1356840" y="7234200"/>
            <a:ext cx="2676600" cy="46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63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Fuzzy search with bounded edit distance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463"/>
              </a:lnSpc>
              <a:spcBef>
                <a:spcPts val="748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Frequency-based ranking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object 21"/>
          <p:cNvSpPr/>
          <p:nvPr/>
        </p:nvSpPr>
        <p:spPr>
          <a:xfrm>
            <a:off x="1356840" y="7814160"/>
            <a:ext cx="294876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63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GUI suggestions plus CLI batch fallback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463"/>
              </a:lnSpc>
              <a:spcBef>
                <a:spcPts val="748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Graphical User Interface (GUI) with Qt6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463"/>
              </a:lnSpc>
              <a:spcBef>
                <a:spcPts val="799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Stress-tested with 10K synthetic words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object 22"/>
          <p:cNvSpPr/>
          <p:nvPr/>
        </p:nvSpPr>
        <p:spPr>
          <a:xfrm>
            <a:off x="899640" y="8740080"/>
            <a:ext cx="11340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Technologies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object 23"/>
          <p:cNvSpPr/>
          <p:nvPr/>
        </p:nvSpPr>
        <p:spPr>
          <a:xfrm>
            <a:off x="1128240" y="8979120"/>
            <a:ext cx="23580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object 24"/>
          <p:cNvSpPr/>
          <p:nvPr/>
        </p:nvSpPr>
        <p:spPr>
          <a:xfrm>
            <a:off x="1356840" y="8962560"/>
            <a:ext cx="11271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Language: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C++17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"/>
          <p:cNvSpPr/>
          <p:nvPr/>
        </p:nvSpPr>
        <p:spPr>
          <a:xfrm>
            <a:off x="899640" y="2380320"/>
            <a:ext cx="5972400" cy="187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object 2"/>
          <p:cNvSpPr/>
          <p:nvPr/>
        </p:nvSpPr>
        <p:spPr>
          <a:xfrm>
            <a:off x="881280" y="3168360"/>
            <a:ext cx="6009120" cy="37173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object 4"/>
          <p:cNvSpPr/>
          <p:nvPr/>
        </p:nvSpPr>
        <p:spPr>
          <a:xfrm>
            <a:off x="1128240" y="916560"/>
            <a:ext cx="23580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object 5"/>
          <p:cNvSpPr/>
          <p:nvPr/>
        </p:nvSpPr>
        <p:spPr>
          <a:xfrm>
            <a:off x="1356840" y="899640"/>
            <a:ext cx="3554280" cy="9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Data Structures: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Custom Trie, LinkedList (no STL containers)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Algorithm: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Dynamic Programming (Levenshtein distance)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799"/>
              </a:spcBef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Build System: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Makefile + CMake (for GUI)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Frontend: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Qt6 GUI + CLI fallback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object 6"/>
          <p:cNvSpPr/>
          <p:nvPr/>
        </p:nvSpPr>
        <p:spPr>
          <a:xfrm>
            <a:off x="1356840" y="1988280"/>
            <a:ext cx="16200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Documentation: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Doxygen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object 7"/>
          <p:cNvSpPr/>
          <p:nvPr/>
        </p:nvSpPr>
        <p:spPr>
          <a:xfrm>
            <a:off x="899640" y="2589120"/>
            <a:ext cx="33832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565"/>
              </a:lnSpc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Slide 3: System Architecture - High Level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object 8"/>
          <p:cNvSpPr/>
          <p:nvPr/>
        </p:nvSpPr>
        <p:spPr>
          <a:xfrm>
            <a:off x="899640" y="2945520"/>
            <a:ext cx="17668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Architecture Overview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object 9"/>
          <p:cNvSpPr/>
          <p:nvPr/>
        </p:nvSpPr>
        <p:spPr>
          <a:xfrm>
            <a:off x="899640" y="3168360"/>
            <a:ext cx="11995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┌─────────────┐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object 10"/>
          <p:cNvSpPr/>
          <p:nvPr/>
        </p:nvSpPr>
        <p:spPr>
          <a:xfrm>
            <a:off x="899640" y="3317040"/>
            <a:ext cx="85032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r>
              <a:rPr b="0" lang="tr-TR" sz="1000" spc="1398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Input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r>
              <a:rPr b="0" lang="tr-TR" sz="1000" spc="1398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Parser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object 11"/>
          <p:cNvSpPr/>
          <p:nvPr/>
        </p:nvSpPr>
        <p:spPr>
          <a:xfrm>
            <a:off x="1877400" y="3317040"/>
            <a:ext cx="315468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r>
              <a:rPr b="0" lang="tr-TR" sz="1000" spc="848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JSON files (dictionary + words to check)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object 12"/>
          <p:cNvSpPr/>
          <p:nvPr/>
        </p:nvSpPr>
        <p:spPr>
          <a:xfrm>
            <a:off x="899640" y="3614400"/>
            <a:ext cx="11995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└──────┬──────┘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object 13"/>
          <p:cNvSpPr/>
          <p:nvPr/>
        </p:nvSpPr>
        <p:spPr>
          <a:xfrm>
            <a:off x="1388520" y="3763080"/>
            <a:ext cx="22176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▼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object 14"/>
          <p:cNvSpPr/>
          <p:nvPr/>
        </p:nvSpPr>
        <p:spPr>
          <a:xfrm>
            <a:off x="899640" y="4060440"/>
            <a:ext cx="11995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┌─────────────┐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object 15"/>
          <p:cNvSpPr/>
          <p:nvPr/>
        </p:nvSpPr>
        <p:spPr>
          <a:xfrm>
            <a:off x="899640" y="4209120"/>
            <a:ext cx="7106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r>
              <a:rPr b="0" lang="tr-TR" sz="1000" spc="1398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Trie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object 16"/>
          <p:cNvSpPr/>
          <p:nvPr/>
        </p:nvSpPr>
        <p:spPr>
          <a:xfrm>
            <a:off x="1877400" y="4209120"/>
            <a:ext cx="25959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r>
              <a:rPr b="0" lang="tr-TR" sz="1000" spc="848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Dictionary storage (O(k) lookup)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object 17"/>
          <p:cNvSpPr/>
          <p:nvPr/>
        </p:nvSpPr>
        <p:spPr>
          <a:xfrm>
            <a:off x="899640" y="4357800"/>
            <a:ext cx="9201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r>
              <a:rPr b="0" lang="tr-TR" sz="1000" spc="848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(Custom)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object 18"/>
          <p:cNvSpPr/>
          <p:nvPr/>
        </p:nvSpPr>
        <p:spPr>
          <a:xfrm>
            <a:off x="1877400" y="4357800"/>
            <a:ext cx="221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object 19"/>
          <p:cNvSpPr/>
          <p:nvPr/>
        </p:nvSpPr>
        <p:spPr>
          <a:xfrm>
            <a:off x="899640" y="4506480"/>
            <a:ext cx="11995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└──────┬──────┘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object 20"/>
          <p:cNvSpPr/>
          <p:nvPr/>
        </p:nvSpPr>
        <p:spPr>
          <a:xfrm>
            <a:off x="1388520" y="4655160"/>
            <a:ext cx="22176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▼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object 21"/>
          <p:cNvSpPr/>
          <p:nvPr/>
        </p:nvSpPr>
        <p:spPr>
          <a:xfrm>
            <a:off x="899640" y="4952520"/>
            <a:ext cx="3084840" cy="4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┌─────────────┐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r>
              <a:rPr b="0" lang="tr-TR" sz="1000" spc="29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SpellChecker│</a:t>
            </a:r>
            <a:r>
              <a:rPr b="0" lang="tr-TR" sz="1000" spc="848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Core logic + fuzzy search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└──────┬──────┘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object 22"/>
          <p:cNvSpPr/>
          <p:nvPr/>
        </p:nvSpPr>
        <p:spPr>
          <a:xfrm>
            <a:off x="1388520" y="5398920"/>
            <a:ext cx="22176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▼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object 23"/>
          <p:cNvSpPr/>
          <p:nvPr/>
        </p:nvSpPr>
        <p:spPr>
          <a:xfrm>
            <a:off x="899640" y="5696280"/>
            <a:ext cx="2805480" cy="4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┌─────────────┐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r>
              <a:rPr b="0" lang="tr-TR" sz="1000" spc="29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EditDistance│</a:t>
            </a:r>
            <a:r>
              <a:rPr b="0" lang="tr-TR" sz="1000" spc="848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Levenshtein algorithm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└──────┬──────┘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object 24"/>
          <p:cNvSpPr/>
          <p:nvPr/>
        </p:nvSpPr>
        <p:spPr>
          <a:xfrm>
            <a:off x="1388520" y="6142320"/>
            <a:ext cx="22176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▼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object 25"/>
          <p:cNvSpPr/>
          <p:nvPr/>
        </p:nvSpPr>
        <p:spPr>
          <a:xfrm>
            <a:off x="899640" y="6439680"/>
            <a:ext cx="11995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┌─────────────┐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object 26"/>
          <p:cNvSpPr/>
          <p:nvPr/>
        </p:nvSpPr>
        <p:spPr>
          <a:xfrm>
            <a:off x="899640" y="6588360"/>
            <a:ext cx="221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object 27"/>
          <p:cNvSpPr/>
          <p:nvPr/>
        </p:nvSpPr>
        <p:spPr>
          <a:xfrm>
            <a:off x="1248840" y="6588360"/>
            <a:ext cx="3614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GUI/CLI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object 28"/>
          <p:cNvSpPr/>
          <p:nvPr/>
        </p:nvSpPr>
        <p:spPr>
          <a:xfrm>
            <a:off x="1877400" y="6588360"/>
            <a:ext cx="16880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r>
              <a:rPr b="0" lang="tr-TR" sz="1000" spc="848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Command-Line Fallback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object 29"/>
          <p:cNvSpPr/>
          <p:nvPr/>
        </p:nvSpPr>
        <p:spPr>
          <a:xfrm>
            <a:off x="899640" y="6737040"/>
            <a:ext cx="11995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└─────────────┘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object 30"/>
          <p:cNvSpPr/>
          <p:nvPr/>
        </p:nvSpPr>
        <p:spPr>
          <a:xfrm>
            <a:off x="899640" y="7043760"/>
            <a:ext cx="16754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Module Organization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object 31"/>
          <p:cNvSpPr/>
          <p:nvPr/>
        </p:nvSpPr>
        <p:spPr>
          <a:xfrm>
            <a:off x="1128240" y="7282800"/>
            <a:ext cx="23580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object 32"/>
          <p:cNvSpPr/>
          <p:nvPr/>
        </p:nvSpPr>
        <p:spPr>
          <a:xfrm>
            <a:off x="1356840" y="7266240"/>
            <a:ext cx="32245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Data Layer: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Trie, LinkedList (custom implementations)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object 33"/>
          <p:cNvSpPr/>
          <p:nvPr/>
        </p:nvSpPr>
        <p:spPr>
          <a:xfrm>
            <a:off x="1356840" y="7538400"/>
            <a:ext cx="2706120" cy="9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Algorithm Layer: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EditDistance, fuzzy search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Application Layer: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SpellChecker (integration)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799"/>
              </a:spcBef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Interface Layer: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Qt6 GUI + CLI fallback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I/O Layer: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Parser (file handling)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object 1"/>
          <p:cNvSpPr/>
          <p:nvPr/>
        </p:nvSpPr>
        <p:spPr>
          <a:xfrm>
            <a:off x="899640" y="8484120"/>
            <a:ext cx="5972400" cy="187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object 2"/>
          <p:cNvSpPr/>
          <p:nvPr/>
        </p:nvSpPr>
        <p:spPr>
          <a:xfrm>
            <a:off x="899640" y="3579480"/>
            <a:ext cx="5972400" cy="187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object 3"/>
          <p:cNvSpPr/>
          <p:nvPr/>
        </p:nvSpPr>
        <p:spPr>
          <a:xfrm>
            <a:off x="881280" y="4367520"/>
            <a:ext cx="6009120" cy="25275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object 4"/>
          <p:cNvSpPr/>
          <p:nvPr/>
        </p:nvSpPr>
        <p:spPr>
          <a:xfrm>
            <a:off x="881280" y="1127880"/>
            <a:ext cx="6009120" cy="223020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object 6"/>
          <p:cNvSpPr/>
          <p:nvPr/>
        </p:nvSpPr>
        <p:spPr>
          <a:xfrm>
            <a:off x="899640" y="905040"/>
            <a:ext cx="13816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Project Structure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object 7"/>
          <p:cNvSpPr/>
          <p:nvPr/>
        </p:nvSpPr>
        <p:spPr>
          <a:xfrm>
            <a:off x="899640" y="1127880"/>
            <a:ext cx="112968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CSE211-PROJ25/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├──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include/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object 8"/>
          <p:cNvSpPr/>
          <p:nvPr/>
        </p:nvSpPr>
        <p:spPr>
          <a:xfrm>
            <a:off x="899640" y="1425240"/>
            <a:ext cx="221760" cy="4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object 9"/>
          <p:cNvSpPr/>
          <p:nvPr/>
        </p:nvSpPr>
        <p:spPr>
          <a:xfrm>
            <a:off x="1179000" y="1425240"/>
            <a:ext cx="29451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├──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data_structures/</a:t>
            </a:r>
            <a:r>
              <a:rPr b="0" lang="tr-TR" sz="1000" spc="548" strike="noStrike">
                <a:solidFill>
                  <a:srgbClr val="000000"/>
                </a:solidFill>
                <a:latin typeface="Consolas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(Trie, LinkedList)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object 10"/>
          <p:cNvSpPr/>
          <p:nvPr/>
        </p:nvSpPr>
        <p:spPr>
          <a:xfrm>
            <a:off x="1179000" y="1573920"/>
            <a:ext cx="7804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├──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core/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object 11"/>
          <p:cNvSpPr/>
          <p:nvPr/>
        </p:nvSpPr>
        <p:spPr>
          <a:xfrm>
            <a:off x="2784960" y="1573920"/>
            <a:ext cx="259596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(SpellChecker, EditDistance, Types)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(Parser)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object 12"/>
          <p:cNvSpPr/>
          <p:nvPr/>
        </p:nvSpPr>
        <p:spPr>
          <a:xfrm>
            <a:off x="1179000" y="1722600"/>
            <a:ext cx="8503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└──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utils/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object 13"/>
          <p:cNvSpPr/>
          <p:nvPr/>
        </p:nvSpPr>
        <p:spPr>
          <a:xfrm>
            <a:off x="899640" y="1871280"/>
            <a:ext cx="7106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├──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src/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object 14"/>
          <p:cNvSpPr/>
          <p:nvPr/>
        </p:nvSpPr>
        <p:spPr>
          <a:xfrm>
            <a:off x="899640" y="2019960"/>
            <a:ext cx="221760" cy="5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object 15"/>
          <p:cNvSpPr/>
          <p:nvPr/>
        </p:nvSpPr>
        <p:spPr>
          <a:xfrm>
            <a:off x="1179000" y="2019960"/>
            <a:ext cx="1548360" cy="5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├──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data_structures/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├──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core/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├──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utils/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└──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main.cpp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object 16"/>
          <p:cNvSpPr/>
          <p:nvPr/>
        </p:nvSpPr>
        <p:spPr>
          <a:xfrm>
            <a:off x="899640" y="2614680"/>
            <a:ext cx="10598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├──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frontend/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object 17"/>
          <p:cNvSpPr/>
          <p:nvPr/>
        </p:nvSpPr>
        <p:spPr>
          <a:xfrm>
            <a:off x="899640" y="2763360"/>
            <a:ext cx="221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object 18"/>
          <p:cNvSpPr/>
          <p:nvPr/>
        </p:nvSpPr>
        <p:spPr>
          <a:xfrm>
            <a:off x="1179000" y="2763360"/>
            <a:ext cx="7106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├──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gui/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object 19"/>
          <p:cNvSpPr/>
          <p:nvPr/>
        </p:nvSpPr>
        <p:spPr>
          <a:xfrm>
            <a:off x="2784960" y="2763360"/>
            <a:ext cx="7804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(Qt6 GUI)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object 20"/>
          <p:cNvSpPr/>
          <p:nvPr/>
        </p:nvSpPr>
        <p:spPr>
          <a:xfrm>
            <a:off x="899640" y="2912040"/>
            <a:ext cx="221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object 21"/>
          <p:cNvSpPr/>
          <p:nvPr/>
        </p:nvSpPr>
        <p:spPr>
          <a:xfrm>
            <a:off x="1179000" y="2912040"/>
            <a:ext cx="9201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└──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tui.cpp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object 22"/>
          <p:cNvSpPr/>
          <p:nvPr/>
        </p:nvSpPr>
        <p:spPr>
          <a:xfrm>
            <a:off x="2784960" y="2912040"/>
            <a:ext cx="2316600" cy="4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(CLI fallback)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(Unit, Integration, Edge Cases)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(JSON dictionaries)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object 23"/>
          <p:cNvSpPr/>
          <p:nvPr/>
        </p:nvSpPr>
        <p:spPr>
          <a:xfrm>
            <a:off x="899640" y="3061080"/>
            <a:ext cx="85032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├──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tests/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└──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data/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object 24"/>
          <p:cNvSpPr/>
          <p:nvPr/>
        </p:nvSpPr>
        <p:spPr>
          <a:xfrm>
            <a:off x="899640" y="3788640"/>
            <a:ext cx="3343680" cy="5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565"/>
              </a:lnSpc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Slide 4: System Architecture - Data Flow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451"/>
              </a:lnSpc>
              <a:spcBef>
                <a:spcPts val="1242"/>
              </a:spcBef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Data Flow Diagram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object 25"/>
          <p:cNvSpPr/>
          <p:nvPr/>
        </p:nvSpPr>
        <p:spPr>
          <a:xfrm>
            <a:off x="899640" y="4367520"/>
            <a:ext cx="13392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Input File (JSON)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object 26"/>
          <p:cNvSpPr/>
          <p:nvPr/>
        </p:nvSpPr>
        <p:spPr>
          <a:xfrm>
            <a:off x="1179000" y="4516200"/>
            <a:ext cx="221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object 27"/>
          <p:cNvSpPr/>
          <p:nvPr/>
        </p:nvSpPr>
        <p:spPr>
          <a:xfrm>
            <a:off x="1179000" y="4665240"/>
            <a:ext cx="21769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├─→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Parser →</a:t>
            </a:r>
            <a:r>
              <a:rPr b="0" lang="tr-TR" sz="1000" spc="29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Dictionary Array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object 28"/>
          <p:cNvSpPr/>
          <p:nvPr/>
        </p:nvSpPr>
        <p:spPr>
          <a:xfrm>
            <a:off x="1179000" y="4813920"/>
            <a:ext cx="221760" cy="4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object 29"/>
          <p:cNvSpPr/>
          <p:nvPr/>
        </p:nvSpPr>
        <p:spPr>
          <a:xfrm>
            <a:off x="2226600" y="4813920"/>
            <a:ext cx="221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object 30"/>
          <p:cNvSpPr/>
          <p:nvPr/>
        </p:nvSpPr>
        <p:spPr>
          <a:xfrm>
            <a:off x="2226600" y="4962600"/>
            <a:ext cx="25261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└─→</a:t>
            </a:r>
            <a:r>
              <a:rPr b="0" lang="tr-TR" sz="1000" spc="29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Trie.insert() →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Trie Structure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object 31"/>
          <p:cNvSpPr/>
          <p:nvPr/>
        </p:nvSpPr>
        <p:spPr>
          <a:xfrm>
            <a:off x="1179000" y="5259960"/>
            <a:ext cx="16182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└─→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Check Words Array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object 32"/>
          <p:cNvSpPr/>
          <p:nvPr/>
        </p:nvSpPr>
        <p:spPr>
          <a:xfrm>
            <a:off x="1737720" y="5408640"/>
            <a:ext cx="221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object 33"/>
          <p:cNvSpPr/>
          <p:nvPr/>
        </p:nvSpPr>
        <p:spPr>
          <a:xfrm>
            <a:off x="1737720" y="5557320"/>
            <a:ext cx="19674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└─→</a:t>
            </a:r>
            <a:r>
              <a:rPr b="0" lang="tr-TR" sz="1000" spc="29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SpellChecker.suggest()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object 34"/>
          <p:cNvSpPr/>
          <p:nvPr/>
        </p:nvSpPr>
        <p:spPr>
          <a:xfrm>
            <a:off x="2296440" y="5706000"/>
            <a:ext cx="221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object 35"/>
          <p:cNvSpPr/>
          <p:nvPr/>
        </p:nvSpPr>
        <p:spPr>
          <a:xfrm>
            <a:off x="2296440" y="5854680"/>
            <a:ext cx="16182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├─→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Trie fuzzy search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object 36"/>
          <p:cNvSpPr/>
          <p:nvPr/>
        </p:nvSpPr>
        <p:spPr>
          <a:xfrm>
            <a:off x="2296440" y="6003360"/>
            <a:ext cx="221760" cy="4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object 37"/>
          <p:cNvSpPr/>
          <p:nvPr/>
        </p:nvSpPr>
        <p:spPr>
          <a:xfrm>
            <a:off x="2854800" y="6003360"/>
            <a:ext cx="221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object 38"/>
          <p:cNvSpPr/>
          <p:nvPr/>
        </p:nvSpPr>
        <p:spPr>
          <a:xfrm>
            <a:off x="2854800" y="6152040"/>
            <a:ext cx="24562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└─→</a:t>
            </a:r>
            <a:r>
              <a:rPr b="0" lang="tr-TR" sz="1000" spc="29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EditDistance.computeBounded()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object 39"/>
          <p:cNvSpPr/>
          <p:nvPr/>
        </p:nvSpPr>
        <p:spPr>
          <a:xfrm>
            <a:off x="2296440" y="6449400"/>
            <a:ext cx="21769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└─→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SuggestionBuffer (ranked)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object 40"/>
          <p:cNvSpPr/>
          <p:nvPr/>
        </p:nvSpPr>
        <p:spPr>
          <a:xfrm>
            <a:off x="2854800" y="6598080"/>
            <a:ext cx="221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│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object 41"/>
          <p:cNvSpPr/>
          <p:nvPr/>
        </p:nvSpPr>
        <p:spPr>
          <a:xfrm>
            <a:off x="2854800" y="6746760"/>
            <a:ext cx="13388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└─→</a:t>
            </a:r>
            <a:r>
              <a:rPr b="0" lang="tr-TR" sz="1000" spc="29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Frontend display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object 42"/>
          <p:cNvSpPr/>
          <p:nvPr/>
        </p:nvSpPr>
        <p:spPr>
          <a:xfrm>
            <a:off x="899640" y="7053480"/>
            <a:ext cx="13359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Key Interactions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object 43"/>
          <p:cNvSpPr/>
          <p:nvPr/>
        </p:nvSpPr>
        <p:spPr>
          <a:xfrm>
            <a:off x="1128240" y="7275960"/>
            <a:ext cx="3171600" cy="9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1.</a:t>
            </a:r>
            <a:r>
              <a:rPr b="0" lang="tr-TR" sz="1100" spc="7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Load: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Parser reads JSON →</a:t>
            </a:r>
            <a:r>
              <a:rPr b="0" lang="tr-TR" sz="1100" spc="-2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Trie stores dictionary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2.</a:t>
            </a:r>
            <a:r>
              <a:rPr b="0" lang="tr-TR" sz="1100" spc="7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Check: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User input →</a:t>
            </a:r>
            <a:r>
              <a:rPr b="0" lang="tr-TR" sz="1100" spc="-2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SpellChecker queries Trie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799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3.</a:t>
            </a:r>
            <a:r>
              <a:rPr b="0" lang="tr-TR" sz="1100" spc="7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Suggest: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Fuzzy search →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Edit distance →</a:t>
            </a:r>
            <a:r>
              <a:rPr b="0" lang="tr-TR" sz="1100" spc="-2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Ranking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4.</a:t>
            </a:r>
            <a:r>
              <a:rPr b="0" lang="tr-TR" sz="1100" spc="7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Display: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SuggestionBuffer →</a:t>
            </a:r>
            <a:r>
              <a:rPr b="0" lang="tr-TR" sz="1100" spc="-2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GUI/CLI output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object 1"/>
          <p:cNvSpPr/>
          <p:nvPr/>
        </p:nvSpPr>
        <p:spPr>
          <a:xfrm>
            <a:off x="881280" y="6981840"/>
            <a:ext cx="6009120" cy="19328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object 2"/>
          <p:cNvSpPr/>
          <p:nvPr/>
        </p:nvSpPr>
        <p:spPr>
          <a:xfrm>
            <a:off x="881280" y="3188160"/>
            <a:ext cx="6009120" cy="11894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object 4"/>
          <p:cNvSpPr/>
          <p:nvPr/>
        </p:nvSpPr>
        <p:spPr>
          <a:xfrm>
            <a:off x="899640" y="905760"/>
            <a:ext cx="24937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565"/>
              </a:lnSpc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Slide 5: Data Structures - Trie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object 5"/>
          <p:cNvSpPr/>
          <p:nvPr/>
        </p:nvSpPr>
        <p:spPr>
          <a:xfrm>
            <a:off x="899640" y="1262160"/>
            <a:ext cx="22258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Custom Trie Implementation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object 6"/>
          <p:cNvSpPr/>
          <p:nvPr/>
        </p:nvSpPr>
        <p:spPr>
          <a:xfrm>
            <a:off x="899640" y="1484640"/>
            <a:ext cx="7394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Why Trie?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object 7"/>
          <p:cNvSpPr/>
          <p:nvPr/>
        </p:nvSpPr>
        <p:spPr>
          <a:xfrm>
            <a:off x="1128240" y="1791360"/>
            <a:ext cx="235800" cy="10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108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108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108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object 8"/>
          <p:cNvSpPr/>
          <p:nvPr/>
        </p:nvSpPr>
        <p:spPr>
          <a:xfrm>
            <a:off x="1356840" y="1756800"/>
            <a:ext cx="2329560" cy="46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63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O(k) lookup time (k = word length)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463"/>
              </a:lnSpc>
              <a:spcBef>
                <a:spcPts val="748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Efficient prefix matching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object 9"/>
          <p:cNvSpPr/>
          <p:nvPr/>
        </p:nvSpPr>
        <p:spPr>
          <a:xfrm>
            <a:off x="1356840" y="2336400"/>
            <a:ext cx="2583000" cy="46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63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Enables fuzzy search with edit distance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463"/>
              </a:lnSpc>
              <a:spcBef>
                <a:spcPts val="748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Scales well for large dictionaries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object 10"/>
          <p:cNvSpPr/>
          <p:nvPr/>
        </p:nvSpPr>
        <p:spPr>
          <a:xfrm>
            <a:off x="899640" y="2916360"/>
            <a:ext cx="7315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Structure: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object 11"/>
          <p:cNvSpPr/>
          <p:nvPr/>
        </p:nvSpPr>
        <p:spPr>
          <a:xfrm>
            <a:off x="899640" y="3188160"/>
            <a:ext cx="3224520" cy="89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TrieNode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├──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char ch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├──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bool isWord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├──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int frequency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└──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LinkedList&lt;ChildEntry&gt; children (sorted)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 marL="279360"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└──</a:t>
            </a:r>
            <a:r>
              <a:rPr b="0" lang="tr-TR" sz="1000" spc="29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ChildEntry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object 12"/>
          <p:cNvSpPr/>
          <p:nvPr/>
        </p:nvSpPr>
        <p:spPr>
          <a:xfrm>
            <a:off x="1458360" y="4080600"/>
            <a:ext cx="140904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├──</a:t>
            </a:r>
            <a:r>
              <a:rPr b="0" lang="tr-TR" sz="1000" spc="29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char ch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└──</a:t>
            </a:r>
            <a:r>
              <a:rPr b="0" lang="tr-TR" sz="1000" spc="29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TrieNode* node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object 13"/>
          <p:cNvSpPr/>
          <p:nvPr/>
        </p:nvSpPr>
        <p:spPr>
          <a:xfrm>
            <a:off x="899640" y="4479480"/>
            <a:ext cx="10036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Optimizations: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object 14"/>
          <p:cNvSpPr/>
          <p:nvPr/>
        </p:nvSpPr>
        <p:spPr>
          <a:xfrm>
            <a:off x="1128240" y="4786200"/>
            <a:ext cx="235800" cy="75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108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108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object 15"/>
          <p:cNvSpPr/>
          <p:nvPr/>
        </p:nvSpPr>
        <p:spPr>
          <a:xfrm>
            <a:off x="1356840" y="4751640"/>
            <a:ext cx="324108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63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Sorted children list for early exit in getChild()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463"/>
              </a:lnSpc>
              <a:spcBef>
                <a:spcPts val="748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insertSorted() maintains order during construction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463"/>
              </a:lnSpc>
              <a:spcBef>
                <a:spcPts val="799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Designed for 100K+ dictionary challenge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object 16"/>
          <p:cNvSpPr/>
          <p:nvPr/>
        </p:nvSpPr>
        <p:spPr>
          <a:xfrm>
            <a:off x="899640" y="5621400"/>
            <a:ext cx="8460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Complexity: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object 17"/>
          <p:cNvSpPr/>
          <p:nvPr/>
        </p:nvSpPr>
        <p:spPr>
          <a:xfrm>
            <a:off x="1128240" y="591012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object 18"/>
          <p:cNvSpPr/>
          <p:nvPr/>
        </p:nvSpPr>
        <p:spPr>
          <a:xfrm>
            <a:off x="1356840" y="5893560"/>
            <a:ext cx="40096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Insert: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O(k) where k = word length (optimized with sorted insertion)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object 19"/>
          <p:cNvSpPr/>
          <p:nvPr/>
        </p:nvSpPr>
        <p:spPr>
          <a:xfrm>
            <a:off x="1356840" y="6165720"/>
            <a:ext cx="38851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Search: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O(k) where k = word length (early exit for sorted children)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object 20"/>
          <p:cNvSpPr/>
          <p:nvPr/>
        </p:nvSpPr>
        <p:spPr>
          <a:xfrm>
            <a:off x="1356840" y="6437880"/>
            <a:ext cx="26888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Space: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O(ALPHABET_SIZE × N × k) worst case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object 21"/>
          <p:cNvSpPr/>
          <p:nvPr/>
        </p:nvSpPr>
        <p:spPr>
          <a:xfrm>
            <a:off x="899640" y="6709680"/>
            <a:ext cx="10677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Visual Example: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object 22"/>
          <p:cNvSpPr/>
          <p:nvPr/>
        </p:nvSpPr>
        <p:spPr>
          <a:xfrm>
            <a:off x="1388520" y="6981840"/>
            <a:ext cx="64080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69840"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(root)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/</a:t>
            </a:r>
            <a:r>
              <a:rPr b="0" lang="tr-TR" sz="1000" spc="548" strike="noStrike">
                <a:solidFill>
                  <a:srgbClr val="000000"/>
                </a:solidFill>
                <a:latin typeface="Consolas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|</a:t>
            </a:r>
            <a:r>
              <a:rPr b="0" lang="tr-TR" sz="1000" spc="548" strike="noStrike">
                <a:solidFill>
                  <a:srgbClr val="000000"/>
                </a:solidFill>
                <a:latin typeface="Consolas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\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object 23"/>
          <p:cNvSpPr/>
          <p:nvPr/>
        </p:nvSpPr>
        <p:spPr>
          <a:xfrm>
            <a:off x="1318680" y="7279560"/>
            <a:ext cx="7804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t</a:t>
            </a:r>
            <a:r>
              <a:rPr b="0" lang="tr-TR" sz="1000" spc="1098" strike="noStrike">
                <a:solidFill>
                  <a:srgbClr val="000000"/>
                </a:solidFill>
                <a:latin typeface="Consolas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h</a:t>
            </a:r>
            <a:r>
              <a:rPr b="0" lang="tr-TR" sz="1000" spc="1098" strike="noStrike">
                <a:solidFill>
                  <a:srgbClr val="000000"/>
                </a:solidFill>
                <a:latin typeface="Consolas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w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object 24"/>
          <p:cNvSpPr/>
          <p:nvPr/>
        </p:nvSpPr>
        <p:spPr>
          <a:xfrm>
            <a:off x="1248840" y="7428240"/>
            <a:ext cx="221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/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object 25"/>
          <p:cNvSpPr/>
          <p:nvPr/>
        </p:nvSpPr>
        <p:spPr>
          <a:xfrm>
            <a:off x="1598040" y="7428240"/>
            <a:ext cx="221760" cy="104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|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e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|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r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|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e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|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object 26"/>
          <p:cNvSpPr/>
          <p:nvPr/>
        </p:nvSpPr>
        <p:spPr>
          <a:xfrm>
            <a:off x="1947240" y="7428240"/>
            <a:ext cx="221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\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object 27"/>
          <p:cNvSpPr/>
          <p:nvPr/>
        </p:nvSpPr>
        <p:spPr>
          <a:xfrm>
            <a:off x="1179000" y="7576920"/>
            <a:ext cx="221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h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object 28"/>
          <p:cNvSpPr/>
          <p:nvPr/>
        </p:nvSpPr>
        <p:spPr>
          <a:xfrm>
            <a:off x="2017080" y="7576920"/>
            <a:ext cx="221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o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object 29"/>
          <p:cNvSpPr/>
          <p:nvPr/>
        </p:nvSpPr>
        <p:spPr>
          <a:xfrm>
            <a:off x="1109160" y="7725600"/>
            <a:ext cx="221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/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object 30"/>
          <p:cNvSpPr/>
          <p:nvPr/>
        </p:nvSpPr>
        <p:spPr>
          <a:xfrm>
            <a:off x="2086920" y="7725600"/>
            <a:ext cx="221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\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object 31"/>
          <p:cNvSpPr/>
          <p:nvPr/>
        </p:nvSpPr>
        <p:spPr>
          <a:xfrm>
            <a:off x="969480" y="7874280"/>
            <a:ext cx="36144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69840"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e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/ \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object 32"/>
          <p:cNvSpPr/>
          <p:nvPr/>
        </p:nvSpPr>
        <p:spPr>
          <a:xfrm>
            <a:off x="2156760" y="7874280"/>
            <a:ext cx="221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r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object 33"/>
          <p:cNvSpPr/>
          <p:nvPr/>
        </p:nvSpPr>
        <p:spPr>
          <a:xfrm>
            <a:off x="2226600" y="8022960"/>
            <a:ext cx="221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\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object 34"/>
          <p:cNvSpPr/>
          <p:nvPr/>
        </p:nvSpPr>
        <p:spPr>
          <a:xfrm>
            <a:off x="899640" y="8171640"/>
            <a:ext cx="5011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i</a:t>
            </a:r>
            <a:r>
              <a:rPr b="0" lang="tr-TR" sz="1000" spc="1098" strike="noStrike">
                <a:solidFill>
                  <a:srgbClr val="000000"/>
                </a:solidFill>
                <a:latin typeface="Consolas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e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object 35"/>
          <p:cNvSpPr/>
          <p:nvPr/>
        </p:nvSpPr>
        <p:spPr>
          <a:xfrm>
            <a:off x="2296440" y="8171640"/>
            <a:ext cx="221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l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object 36"/>
          <p:cNvSpPr/>
          <p:nvPr/>
        </p:nvSpPr>
        <p:spPr>
          <a:xfrm>
            <a:off x="899640" y="8320320"/>
            <a:ext cx="1339200" cy="4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|</a:t>
            </a:r>
            <a:r>
              <a:rPr b="0" lang="tr-TR" sz="1000" spc="1098" strike="noStrike">
                <a:solidFill>
                  <a:srgbClr val="000000"/>
                </a:solidFill>
                <a:latin typeface="Consolas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|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r</a:t>
            </a:r>
            <a:r>
              <a:rPr b="0" lang="tr-TR" sz="1000" spc="1098" strike="noStrike">
                <a:solidFill>
                  <a:srgbClr val="000000"/>
                </a:solidFill>
                <a:latin typeface="Consolas"/>
              </a:rPr>
              <a:t> </a:t>
            </a: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(word) (word)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|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object 37"/>
          <p:cNvSpPr/>
          <p:nvPr/>
        </p:nvSpPr>
        <p:spPr>
          <a:xfrm>
            <a:off x="2366280" y="8320320"/>
            <a:ext cx="221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\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object 38"/>
          <p:cNvSpPr/>
          <p:nvPr/>
        </p:nvSpPr>
        <p:spPr>
          <a:xfrm>
            <a:off x="2436120" y="8469000"/>
            <a:ext cx="22176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d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|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object 39"/>
          <p:cNvSpPr/>
          <p:nvPr/>
        </p:nvSpPr>
        <p:spPr>
          <a:xfrm>
            <a:off x="899640" y="8766360"/>
            <a:ext cx="5709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(word)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object 40"/>
          <p:cNvSpPr/>
          <p:nvPr/>
        </p:nvSpPr>
        <p:spPr>
          <a:xfrm>
            <a:off x="2366280" y="8766360"/>
            <a:ext cx="5709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(word)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object 1"/>
          <p:cNvSpPr/>
          <p:nvPr/>
        </p:nvSpPr>
        <p:spPr>
          <a:xfrm>
            <a:off x="899640" y="6801840"/>
            <a:ext cx="5972400" cy="187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object 2"/>
          <p:cNvSpPr/>
          <p:nvPr/>
        </p:nvSpPr>
        <p:spPr>
          <a:xfrm>
            <a:off x="899640" y="1019520"/>
            <a:ext cx="5972400" cy="187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object 5"/>
          <p:cNvSpPr/>
          <p:nvPr/>
        </p:nvSpPr>
        <p:spPr>
          <a:xfrm>
            <a:off x="899640" y="1228680"/>
            <a:ext cx="29883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565"/>
              </a:lnSpc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Slide 6: Data Structures - LinkedList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object 6"/>
          <p:cNvSpPr/>
          <p:nvPr/>
        </p:nvSpPr>
        <p:spPr>
          <a:xfrm>
            <a:off x="899640" y="1585080"/>
            <a:ext cx="20516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Custom Singly Linked List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object 7"/>
          <p:cNvSpPr/>
          <p:nvPr/>
        </p:nvSpPr>
        <p:spPr>
          <a:xfrm>
            <a:off x="899640" y="1807560"/>
            <a:ext cx="10944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Why LinkedList?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object 8"/>
          <p:cNvSpPr/>
          <p:nvPr/>
        </p:nvSpPr>
        <p:spPr>
          <a:xfrm>
            <a:off x="1128240" y="2114280"/>
            <a:ext cx="235800" cy="10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108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108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108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object 9"/>
          <p:cNvSpPr/>
          <p:nvPr/>
        </p:nvSpPr>
        <p:spPr>
          <a:xfrm>
            <a:off x="1356840" y="2079720"/>
            <a:ext cx="21967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63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Dynamic size (no pre-allocation)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object 10"/>
          <p:cNvSpPr/>
          <p:nvPr/>
        </p:nvSpPr>
        <p:spPr>
          <a:xfrm>
            <a:off x="1356840" y="2369520"/>
            <a:ext cx="267516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63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Pointer-based (course requirement)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463"/>
              </a:lnSpc>
              <a:spcBef>
                <a:spcPts val="748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Memory efficient for sparse children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463"/>
              </a:lnSpc>
              <a:spcBef>
                <a:spcPts val="799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No STL containers (custom requirement)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object 11"/>
          <p:cNvSpPr/>
          <p:nvPr/>
        </p:nvSpPr>
        <p:spPr>
          <a:xfrm>
            <a:off x="899640" y="3239280"/>
            <a:ext cx="7315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Structure: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object 14"/>
          <p:cNvSpPr/>
          <p:nvPr/>
        </p:nvSpPr>
        <p:spPr>
          <a:xfrm>
            <a:off x="899640" y="4505040"/>
            <a:ext cx="8373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Operations: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object 15"/>
          <p:cNvSpPr/>
          <p:nvPr/>
        </p:nvSpPr>
        <p:spPr>
          <a:xfrm>
            <a:off x="1128240" y="4794120"/>
            <a:ext cx="23580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object 16"/>
          <p:cNvSpPr/>
          <p:nvPr/>
        </p:nvSpPr>
        <p:spPr>
          <a:xfrm>
            <a:off x="1356840" y="4777200"/>
            <a:ext cx="17020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Append: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O(n) - adds to end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object 17"/>
          <p:cNvSpPr/>
          <p:nvPr/>
        </p:nvSpPr>
        <p:spPr>
          <a:xfrm>
            <a:off x="1128240" y="5065920"/>
            <a:ext cx="23580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object 18"/>
          <p:cNvSpPr/>
          <p:nvPr/>
        </p:nvSpPr>
        <p:spPr>
          <a:xfrm>
            <a:off x="1356840" y="5049360"/>
            <a:ext cx="24084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Find: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O(n) - linear search with predicate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object 19"/>
          <p:cNvSpPr/>
          <p:nvPr/>
        </p:nvSpPr>
        <p:spPr>
          <a:xfrm>
            <a:off x="1128240" y="5338080"/>
            <a:ext cx="23580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object 20"/>
          <p:cNvSpPr/>
          <p:nvPr/>
        </p:nvSpPr>
        <p:spPr>
          <a:xfrm>
            <a:off x="1356840" y="5321520"/>
            <a:ext cx="20595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Clear: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O(n) - deallocates all nodes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object 21"/>
          <p:cNvSpPr/>
          <p:nvPr/>
        </p:nvSpPr>
        <p:spPr>
          <a:xfrm>
            <a:off x="899640" y="5593680"/>
            <a:ext cx="5428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Usage: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object 22"/>
          <p:cNvSpPr/>
          <p:nvPr/>
        </p:nvSpPr>
        <p:spPr>
          <a:xfrm>
            <a:off x="1128240" y="588240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object 23"/>
          <p:cNvSpPr/>
          <p:nvPr/>
        </p:nvSpPr>
        <p:spPr>
          <a:xfrm>
            <a:off x="1356840" y="5865840"/>
            <a:ext cx="218988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Stores children of each Trie node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Enables dynamic child management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799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Supports predicate-based search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object 24"/>
          <p:cNvSpPr/>
          <p:nvPr/>
        </p:nvSpPr>
        <p:spPr>
          <a:xfrm>
            <a:off x="899640" y="7011000"/>
            <a:ext cx="3403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565"/>
              </a:lnSpc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Slide 7: Algorithm - Levenshtein Distance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object 25"/>
          <p:cNvSpPr/>
          <p:nvPr/>
        </p:nvSpPr>
        <p:spPr>
          <a:xfrm>
            <a:off x="899640" y="7367400"/>
            <a:ext cx="18680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Edit Distance Algorithm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object 26"/>
          <p:cNvSpPr/>
          <p:nvPr/>
        </p:nvSpPr>
        <p:spPr>
          <a:xfrm>
            <a:off x="899640" y="7589880"/>
            <a:ext cx="40914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Purpose: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Calculate minimum edits to transform one string to another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object 27"/>
          <p:cNvSpPr/>
          <p:nvPr/>
        </p:nvSpPr>
        <p:spPr>
          <a:xfrm>
            <a:off x="899640" y="7862040"/>
            <a:ext cx="8373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Operations: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object 28"/>
          <p:cNvSpPr/>
          <p:nvPr/>
        </p:nvSpPr>
        <p:spPr>
          <a:xfrm>
            <a:off x="1128240" y="815076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object 29"/>
          <p:cNvSpPr/>
          <p:nvPr/>
        </p:nvSpPr>
        <p:spPr>
          <a:xfrm>
            <a:off x="1356840" y="8134200"/>
            <a:ext cx="15602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Insertion (add character)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object 30"/>
          <p:cNvSpPr/>
          <p:nvPr/>
        </p:nvSpPr>
        <p:spPr>
          <a:xfrm>
            <a:off x="1356840" y="8406360"/>
            <a:ext cx="1949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Deletion (remove character)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Substitution (replace character)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9" name="" descr=""/>
          <p:cNvPicPr/>
          <p:nvPr/>
        </p:nvPicPr>
        <p:blipFill>
          <a:blip r:embed="rId3"/>
          <a:stretch/>
        </p:blipFill>
        <p:spPr>
          <a:xfrm>
            <a:off x="899280" y="3439440"/>
            <a:ext cx="5783760" cy="13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object 1"/>
          <p:cNvSpPr/>
          <p:nvPr/>
        </p:nvSpPr>
        <p:spPr>
          <a:xfrm>
            <a:off x="899640" y="4810680"/>
            <a:ext cx="5972400" cy="187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object 12"/>
          <p:cNvSpPr/>
          <p:nvPr/>
        </p:nvSpPr>
        <p:spPr>
          <a:xfrm>
            <a:off x="899640" y="2785680"/>
            <a:ext cx="9478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Optimization: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object 13"/>
          <p:cNvSpPr/>
          <p:nvPr/>
        </p:nvSpPr>
        <p:spPr>
          <a:xfrm>
            <a:off x="1128240" y="307476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object 14"/>
          <p:cNvSpPr/>
          <p:nvPr/>
        </p:nvSpPr>
        <p:spPr>
          <a:xfrm>
            <a:off x="1356840" y="3057840"/>
            <a:ext cx="258408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Early termination when distance &gt; maxDist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Row-min pruning for efficiency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object 15"/>
          <p:cNvSpPr/>
          <p:nvPr/>
        </p:nvSpPr>
        <p:spPr>
          <a:xfrm>
            <a:off x="1356840" y="3602160"/>
            <a:ext cx="25308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Two-row space optimization: O(min(m,n))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object 16"/>
          <p:cNvSpPr/>
          <p:nvPr/>
        </p:nvSpPr>
        <p:spPr>
          <a:xfrm>
            <a:off x="899640" y="3874320"/>
            <a:ext cx="8460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Complexity: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object 17"/>
          <p:cNvSpPr/>
          <p:nvPr/>
        </p:nvSpPr>
        <p:spPr>
          <a:xfrm>
            <a:off x="1128240" y="4163400"/>
            <a:ext cx="2358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object 18"/>
          <p:cNvSpPr/>
          <p:nvPr/>
        </p:nvSpPr>
        <p:spPr>
          <a:xfrm>
            <a:off x="1356840" y="4146480"/>
            <a:ext cx="329796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Time: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O(m×n) worst case, O(m×maxDist) with early exit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Space: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O(min(m,n)) with optimization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object 19"/>
          <p:cNvSpPr/>
          <p:nvPr/>
        </p:nvSpPr>
        <p:spPr>
          <a:xfrm>
            <a:off x="899640" y="5019480"/>
            <a:ext cx="27903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565"/>
              </a:lnSpc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Slide 8: Algorithm - Fuzzy Search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object 20"/>
          <p:cNvSpPr/>
          <p:nvPr/>
        </p:nvSpPr>
        <p:spPr>
          <a:xfrm>
            <a:off x="899640" y="5375880"/>
            <a:ext cx="20790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Trie-Guided Fuzzy Search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object 21"/>
          <p:cNvSpPr/>
          <p:nvPr/>
        </p:nvSpPr>
        <p:spPr>
          <a:xfrm>
            <a:off x="899640" y="5598720"/>
            <a:ext cx="33480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Problem: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Find all dictionary words within edit distance k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object 22"/>
          <p:cNvSpPr/>
          <p:nvPr/>
        </p:nvSpPr>
        <p:spPr>
          <a:xfrm>
            <a:off x="899640" y="5870520"/>
            <a:ext cx="3719160" cy="7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63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Naive Approach: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Check every word →</a:t>
            </a:r>
            <a:r>
              <a:rPr b="0" lang="tr-TR" sz="1100" spc="-2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O(N × m×n) 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463"/>
              </a:lnSpc>
              <a:spcBef>
                <a:spcPts val="748"/>
              </a:spcBef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Our Solution: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Recursive Trie traversal with DP row tracking 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Algorithm: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object 28"/>
          <p:cNvSpPr/>
          <p:nvPr/>
        </p:nvSpPr>
        <p:spPr>
          <a:xfrm>
            <a:off x="899640" y="8162640"/>
            <a:ext cx="9374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Key Features: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object 29"/>
          <p:cNvSpPr/>
          <p:nvPr/>
        </p:nvSpPr>
        <p:spPr>
          <a:xfrm>
            <a:off x="1128240" y="845136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object 30"/>
          <p:cNvSpPr/>
          <p:nvPr/>
        </p:nvSpPr>
        <p:spPr>
          <a:xfrm>
            <a:off x="1356840" y="8434800"/>
            <a:ext cx="22942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DP row computed per trie depth level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object 31"/>
          <p:cNvSpPr/>
          <p:nvPr/>
        </p:nvSpPr>
        <p:spPr>
          <a:xfrm>
            <a:off x="1356840" y="8706600"/>
            <a:ext cx="32126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Pruning: Skip branches where rowMin &gt; maxDist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Ranking: Primary by distance, secondary by frequency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2"/>
          <a:stretch/>
        </p:blipFill>
        <p:spPr>
          <a:xfrm>
            <a:off x="789480" y="680040"/>
            <a:ext cx="6671880" cy="1981080"/>
          </a:xfrm>
          <a:prstGeom prst="rect">
            <a:avLst/>
          </a:prstGeom>
          <a:ln w="0">
            <a:noFill/>
          </a:ln>
        </p:spPr>
      </p:pic>
      <p:sp>
        <p:nvSpPr>
          <p:cNvPr id="187" name="object 44"/>
          <p:cNvSpPr/>
          <p:nvPr/>
        </p:nvSpPr>
        <p:spPr>
          <a:xfrm>
            <a:off x="862200" y="369000"/>
            <a:ext cx="21067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Dynamic Programming Approach: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" descr=""/>
          <p:cNvPicPr/>
          <p:nvPr/>
        </p:nvPicPr>
        <p:blipFill>
          <a:blip r:embed="rId3"/>
          <a:stretch/>
        </p:blipFill>
        <p:spPr>
          <a:xfrm>
            <a:off x="749520" y="6683400"/>
            <a:ext cx="6633000" cy="147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object 1"/>
          <p:cNvSpPr/>
          <p:nvPr/>
        </p:nvSpPr>
        <p:spPr>
          <a:xfrm>
            <a:off x="899640" y="9019440"/>
            <a:ext cx="5972400" cy="187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object 2"/>
          <p:cNvSpPr/>
          <p:nvPr/>
        </p:nvSpPr>
        <p:spPr>
          <a:xfrm>
            <a:off x="899640" y="2380320"/>
            <a:ext cx="5972400" cy="187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object 5"/>
          <p:cNvSpPr/>
          <p:nvPr/>
        </p:nvSpPr>
        <p:spPr>
          <a:xfrm>
            <a:off x="899640" y="899640"/>
            <a:ext cx="238608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Complexity: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ts val="1341"/>
              </a:lnSpc>
              <a:spcBef>
                <a:spcPts val="850"/>
              </a:spcBef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Time: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O(α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× k × |dict-prefixes|)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object 6"/>
          <p:cNvSpPr/>
          <p:nvPr/>
        </p:nvSpPr>
        <p:spPr>
          <a:xfrm>
            <a:off x="1128240" y="1188720"/>
            <a:ext cx="23580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object 7"/>
          <p:cNvSpPr/>
          <p:nvPr/>
        </p:nvSpPr>
        <p:spPr>
          <a:xfrm>
            <a:off x="1585440" y="146088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object 8"/>
          <p:cNvSpPr/>
          <p:nvPr/>
        </p:nvSpPr>
        <p:spPr>
          <a:xfrm>
            <a:off x="1814040" y="1443960"/>
            <a:ext cx="11095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α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= alphabet size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object 9"/>
          <p:cNvSpPr/>
          <p:nvPr/>
        </p:nvSpPr>
        <p:spPr>
          <a:xfrm>
            <a:off x="1814040" y="1716120"/>
            <a:ext cx="1348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k = max edit distance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object 10"/>
          <p:cNvSpPr/>
          <p:nvPr/>
        </p:nvSpPr>
        <p:spPr>
          <a:xfrm>
            <a:off x="1814040" y="1988280"/>
            <a:ext cx="29368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|dict-prefixes| = number of prefixes in dictionary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object 11"/>
          <p:cNvSpPr/>
          <p:nvPr/>
        </p:nvSpPr>
        <p:spPr>
          <a:xfrm>
            <a:off x="899640" y="2589120"/>
            <a:ext cx="36604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565"/>
              </a:lnSpc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Slide 9: Module Implementation - Core Logic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object 12"/>
          <p:cNvSpPr/>
          <p:nvPr/>
        </p:nvSpPr>
        <p:spPr>
          <a:xfrm>
            <a:off x="899640" y="2945520"/>
            <a:ext cx="15926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SpellChecker Class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object 13"/>
          <p:cNvSpPr/>
          <p:nvPr/>
        </p:nvSpPr>
        <p:spPr>
          <a:xfrm>
            <a:off x="899640" y="3168360"/>
            <a:ext cx="10969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Responsibilities: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object 14"/>
          <p:cNvSpPr/>
          <p:nvPr/>
        </p:nvSpPr>
        <p:spPr>
          <a:xfrm>
            <a:off x="1128240" y="345708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object 15"/>
          <p:cNvSpPr/>
          <p:nvPr/>
        </p:nvSpPr>
        <p:spPr>
          <a:xfrm>
            <a:off x="1356840" y="3440520"/>
            <a:ext cx="26348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Dictionary management (add words to Trie)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Word correctness checking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object 16"/>
          <p:cNvSpPr/>
          <p:nvPr/>
        </p:nvSpPr>
        <p:spPr>
          <a:xfrm>
            <a:off x="1356840" y="3984480"/>
            <a:ext cx="21614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Suggestion and autocomplete generation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object 17"/>
          <p:cNvSpPr/>
          <p:nvPr/>
        </p:nvSpPr>
        <p:spPr>
          <a:xfrm>
            <a:off x="899640" y="4256640"/>
            <a:ext cx="9565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Key Methods: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object 19"/>
          <p:cNvSpPr/>
          <p:nvPr/>
        </p:nvSpPr>
        <p:spPr>
          <a:xfrm>
            <a:off x="899640" y="5132880"/>
            <a:ext cx="18774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SuggestionBuffer Class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object 20"/>
          <p:cNvSpPr/>
          <p:nvPr/>
        </p:nvSpPr>
        <p:spPr>
          <a:xfrm>
            <a:off x="899640" y="5355360"/>
            <a:ext cx="29790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Purpose: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Maintain sorted list of top-k suggestions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object 21"/>
          <p:cNvSpPr/>
          <p:nvPr/>
        </p:nvSpPr>
        <p:spPr>
          <a:xfrm>
            <a:off x="899640" y="5627520"/>
            <a:ext cx="11714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Ranking Strategy: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object 22"/>
          <p:cNvSpPr/>
          <p:nvPr/>
        </p:nvSpPr>
        <p:spPr>
          <a:xfrm>
            <a:off x="899640" y="5899680"/>
            <a:ext cx="296892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28600"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1.</a:t>
            </a:r>
            <a:r>
              <a:rPr b="0" lang="tr-TR" sz="1100" spc="7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Primary: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Edit distance (ascending)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2.</a:t>
            </a:r>
            <a:r>
              <a:rPr b="0" lang="tr-TR" sz="1100" spc="7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Secondary: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Word frequency (descending)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799"/>
              </a:spcBef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Implementation: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object 23"/>
          <p:cNvSpPr/>
          <p:nvPr/>
        </p:nvSpPr>
        <p:spPr>
          <a:xfrm>
            <a:off x="1128240" y="6732720"/>
            <a:ext cx="235800" cy="9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object 24"/>
          <p:cNvSpPr/>
          <p:nvPr/>
        </p:nvSpPr>
        <p:spPr>
          <a:xfrm>
            <a:off x="1356840" y="6716160"/>
            <a:ext cx="22240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Fixed-size buffer (memory bounded)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object 25"/>
          <p:cNvSpPr/>
          <p:nvPr/>
        </p:nvSpPr>
        <p:spPr>
          <a:xfrm>
            <a:off x="1356840" y="6988320"/>
            <a:ext cx="328428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Uses LinkedList&lt;candidate&gt; for storage (pointer-based)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insertSorted() maintains order during insertion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799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O(k) insertion where k = buffer size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object 26"/>
          <p:cNvSpPr/>
          <p:nvPr/>
        </p:nvSpPr>
        <p:spPr>
          <a:xfrm>
            <a:off x="899640" y="7860960"/>
            <a:ext cx="14734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Design Decisions: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object 27"/>
          <p:cNvSpPr/>
          <p:nvPr/>
        </p:nvSpPr>
        <p:spPr>
          <a:xfrm>
            <a:off x="1128240" y="810000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object 28"/>
          <p:cNvSpPr/>
          <p:nvPr/>
        </p:nvSpPr>
        <p:spPr>
          <a:xfrm>
            <a:off x="1356840" y="8083440"/>
            <a:ext cx="30560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Fixed buffer: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Prevents unbounded memory growth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object 29"/>
          <p:cNvSpPr/>
          <p:nvPr/>
        </p:nvSpPr>
        <p:spPr>
          <a:xfrm>
            <a:off x="1356840" y="8355600"/>
            <a:ext cx="29034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Two-level sorting: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Distance first, then frequency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object 30"/>
          <p:cNvSpPr/>
          <p:nvPr/>
        </p:nvSpPr>
        <p:spPr>
          <a:xfrm>
            <a:off x="1356840" y="8627760"/>
            <a:ext cx="316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Pointer-based: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All structures use pointers (no arrays)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6" name="" descr=""/>
          <p:cNvPicPr/>
          <p:nvPr/>
        </p:nvPicPr>
        <p:blipFill>
          <a:blip r:embed="rId3"/>
          <a:stretch/>
        </p:blipFill>
        <p:spPr>
          <a:xfrm>
            <a:off x="899640" y="4460040"/>
            <a:ext cx="6258240" cy="58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object 1"/>
          <p:cNvSpPr/>
          <p:nvPr/>
        </p:nvSpPr>
        <p:spPr>
          <a:xfrm>
            <a:off x="899640" y="8445240"/>
            <a:ext cx="5972400" cy="187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object 4"/>
          <p:cNvSpPr/>
          <p:nvPr/>
        </p:nvSpPr>
        <p:spPr>
          <a:xfrm>
            <a:off x="899640" y="905760"/>
            <a:ext cx="3976920" cy="5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565"/>
              </a:lnSpc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Slide 10: Module Implementation - Code Snippet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451"/>
              </a:lnSpc>
              <a:spcBef>
                <a:spcPts val="1242"/>
              </a:spcBef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Critical Code: Fuzzy Search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object 14"/>
          <p:cNvSpPr/>
          <p:nvPr/>
        </p:nvSpPr>
        <p:spPr>
          <a:xfrm>
            <a:off x="899640" y="7237080"/>
            <a:ext cx="7981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Key Points: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object 15"/>
          <p:cNvSpPr/>
          <p:nvPr/>
        </p:nvSpPr>
        <p:spPr>
          <a:xfrm>
            <a:off x="1128240" y="752580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object 16"/>
          <p:cNvSpPr/>
          <p:nvPr/>
        </p:nvSpPr>
        <p:spPr>
          <a:xfrm>
            <a:off x="1356840" y="7509240"/>
            <a:ext cx="198648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DP row computed incrementally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Early pruning with rowMin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object 17"/>
          <p:cNvSpPr/>
          <p:nvPr/>
        </p:nvSpPr>
        <p:spPr>
          <a:xfrm>
            <a:off x="1356840" y="8053200"/>
            <a:ext cx="22791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Memory managed carefully (delete[])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3" name="" descr=""/>
          <p:cNvPicPr/>
          <p:nvPr/>
        </p:nvPicPr>
        <p:blipFill>
          <a:blip r:embed="rId2"/>
          <a:stretch/>
        </p:blipFill>
        <p:spPr>
          <a:xfrm>
            <a:off x="735120" y="1501560"/>
            <a:ext cx="6385320" cy="5603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object 1"/>
          <p:cNvSpPr/>
          <p:nvPr/>
        </p:nvSpPr>
        <p:spPr>
          <a:xfrm>
            <a:off x="881280" y="4111200"/>
            <a:ext cx="6009120" cy="8917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object 2"/>
          <p:cNvSpPr/>
          <p:nvPr/>
        </p:nvSpPr>
        <p:spPr>
          <a:xfrm>
            <a:off x="881280" y="2845440"/>
            <a:ext cx="6009120" cy="8917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object 4"/>
          <p:cNvSpPr/>
          <p:nvPr/>
        </p:nvSpPr>
        <p:spPr>
          <a:xfrm>
            <a:off x="899640" y="905760"/>
            <a:ext cx="28699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565"/>
              </a:lnSpc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Slide 11: Frontend Implementation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object 5"/>
          <p:cNvSpPr/>
          <p:nvPr/>
        </p:nvSpPr>
        <p:spPr>
          <a:xfrm>
            <a:off x="899640" y="1262160"/>
            <a:ext cx="1977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Command-Line Fallback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object 6"/>
          <p:cNvSpPr/>
          <p:nvPr/>
        </p:nvSpPr>
        <p:spPr>
          <a:xfrm>
            <a:off x="899640" y="1484640"/>
            <a:ext cx="6930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Features: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object 7"/>
          <p:cNvSpPr/>
          <p:nvPr/>
        </p:nvSpPr>
        <p:spPr>
          <a:xfrm>
            <a:off x="1128240" y="177336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object 8"/>
          <p:cNvSpPr/>
          <p:nvPr/>
        </p:nvSpPr>
        <p:spPr>
          <a:xfrm>
            <a:off x="1356840" y="1756800"/>
            <a:ext cx="278172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Batch mode: Process words from input file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Interactive mode: User enters words manually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799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Clear output formatting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object 9"/>
          <p:cNvSpPr/>
          <p:nvPr/>
        </p:nvSpPr>
        <p:spPr>
          <a:xfrm>
            <a:off x="899640" y="2573280"/>
            <a:ext cx="14198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Batch Mode Example: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object 10"/>
          <p:cNvSpPr/>
          <p:nvPr/>
        </p:nvSpPr>
        <p:spPr>
          <a:xfrm>
            <a:off x="899640" y="2845440"/>
            <a:ext cx="2037240" cy="89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=== Batch Check ===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hello is correct.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helo -&gt; hello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wrold -&gt; world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thier -&gt; their, there, they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teh -&gt; they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object 11"/>
          <p:cNvSpPr/>
          <p:nvPr/>
        </p:nvSpPr>
        <p:spPr>
          <a:xfrm>
            <a:off x="899640" y="3839040"/>
            <a:ext cx="11919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Interactive Mode: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object 12"/>
          <p:cNvSpPr/>
          <p:nvPr/>
        </p:nvSpPr>
        <p:spPr>
          <a:xfrm>
            <a:off x="899640" y="4111200"/>
            <a:ext cx="3782880" cy="89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=== Interactive ===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Spell Checker Interactive Mode (type 'exit' to quit)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Enter word: helo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Suggestions: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 marL="139680"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hello (dist=1, freq=30000)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Enter word: exit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object 13"/>
          <p:cNvSpPr/>
          <p:nvPr/>
        </p:nvSpPr>
        <p:spPr>
          <a:xfrm>
            <a:off x="899640" y="5161320"/>
            <a:ext cx="23907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Graphical User Interface (GUI)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object 14"/>
          <p:cNvSpPr/>
          <p:nvPr/>
        </p:nvSpPr>
        <p:spPr>
          <a:xfrm>
            <a:off x="899640" y="5383800"/>
            <a:ext cx="6930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Features: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object 15"/>
          <p:cNvSpPr/>
          <p:nvPr/>
        </p:nvSpPr>
        <p:spPr>
          <a:xfrm>
            <a:off x="1128240" y="5672520"/>
            <a:ext cx="23580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object 16"/>
          <p:cNvSpPr/>
          <p:nvPr/>
        </p:nvSpPr>
        <p:spPr>
          <a:xfrm>
            <a:off x="1356840" y="5655960"/>
            <a:ext cx="17665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Qt6-based modern interface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object 17"/>
          <p:cNvSpPr/>
          <p:nvPr/>
        </p:nvSpPr>
        <p:spPr>
          <a:xfrm>
            <a:off x="1356840" y="5928120"/>
            <a:ext cx="21992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Real-time spell checking as you type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Click-to-replace suggestions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object 18"/>
          <p:cNvSpPr/>
          <p:nvPr/>
        </p:nvSpPr>
        <p:spPr>
          <a:xfrm>
            <a:off x="1356840" y="6472440"/>
            <a:ext cx="208620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Status display (correct/incorrect)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Loads input_large.json when available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object 19"/>
          <p:cNvSpPr/>
          <p:nvPr/>
        </p:nvSpPr>
        <p:spPr>
          <a:xfrm>
            <a:off x="899640" y="7016760"/>
            <a:ext cx="11768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GUI Components: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object 20"/>
          <p:cNvSpPr/>
          <p:nvPr/>
        </p:nvSpPr>
        <p:spPr>
          <a:xfrm>
            <a:off x="1128240" y="7305480"/>
            <a:ext cx="235800" cy="9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object 21"/>
          <p:cNvSpPr/>
          <p:nvPr/>
        </p:nvSpPr>
        <p:spPr>
          <a:xfrm>
            <a:off x="1356840" y="7288920"/>
            <a:ext cx="10087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Text input field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object 22"/>
          <p:cNvSpPr/>
          <p:nvPr/>
        </p:nvSpPr>
        <p:spPr>
          <a:xfrm>
            <a:off x="1356840" y="7561080"/>
            <a:ext cx="268164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Status label (shows "correct" or suggestions)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Suggestion buttons (up to 3 suggestions)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799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Auto-updates on text change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object 23"/>
          <p:cNvSpPr/>
          <p:nvPr/>
        </p:nvSpPr>
        <p:spPr>
          <a:xfrm>
            <a:off x="899640" y="8377200"/>
            <a:ext cx="8391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Integration: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object 24"/>
          <p:cNvSpPr/>
          <p:nvPr/>
        </p:nvSpPr>
        <p:spPr>
          <a:xfrm>
            <a:off x="1128240" y="8666280"/>
            <a:ext cx="2358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object 25"/>
          <p:cNvSpPr/>
          <p:nvPr/>
        </p:nvSpPr>
        <p:spPr>
          <a:xfrm>
            <a:off x="1356840" y="8649360"/>
            <a:ext cx="31154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GUI and CLI fallback use same SpellChecker core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Modular design: frontend/gui/ and frontend/tui.cpp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object 1"/>
          <p:cNvSpPr/>
          <p:nvPr/>
        </p:nvSpPr>
        <p:spPr>
          <a:xfrm>
            <a:off x="899640" y="8496000"/>
            <a:ext cx="5972400" cy="187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object 2"/>
          <p:cNvSpPr/>
          <p:nvPr/>
        </p:nvSpPr>
        <p:spPr>
          <a:xfrm>
            <a:off x="899640" y="1291680"/>
            <a:ext cx="5972400" cy="187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object 3"/>
          <p:cNvSpPr/>
          <p:nvPr/>
        </p:nvSpPr>
        <p:spPr>
          <a:xfrm>
            <a:off x="881280" y="3712320"/>
            <a:ext cx="6009120" cy="347328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object 5"/>
          <p:cNvSpPr/>
          <p:nvPr/>
        </p:nvSpPr>
        <p:spPr>
          <a:xfrm>
            <a:off x="1128240" y="916560"/>
            <a:ext cx="23580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object 6"/>
          <p:cNvSpPr/>
          <p:nvPr/>
        </p:nvSpPr>
        <p:spPr>
          <a:xfrm>
            <a:off x="1356840" y="899640"/>
            <a:ext cx="18147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Shared core logic in src/core/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object 7"/>
          <p:cNvSpPr/>
          <p:nvPr/>
        </p:nvSpPr>
        <p:spPr>
          <a:xfrm>
            <a:off x="899640" y="1500840"/>
            <a:ext cx="26528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565"/>
              </a:lnSpc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Slide 12: Testing and Validation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object 8"/>
          <p:cNvSpPr/>
          <p:nvPr/>
        </p:nvSpPr>
        <p:spPr>
          <a:xfrm>
            <a:off x="899640" y="1857240"/>
            <a:ext cx="13539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Testing Strategy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object 9"/>
          <p:cNvSpPr/>
          <p:nvPr/>
        </p:nvSpPr>
        <p:spPr>
          <a:xfrm>
            <a:off x="899640" y="2079720"/>
            <a:ext cx="12117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Test Organization: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object 10"/>
          <p:cNvSpPr/>
          <p:nvPr/>
        </p:nvSpPr>
        <p:spPr>
          <a:xfrm>
            <a:off x="1128240" y="2368440"/>
            <a:ext cx="235800" cy="9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object 11"/>
          <p:cNvSpPr/>
          <p:nvPr/>
        </p:nvSpPr>
        <p:spPr>
          <a:xfrm>
            <a:off x="1356840" y="2351880"/>
            <a:ext cx="341496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Unit Tests: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Data structures (Trie, LinkedList, EditDistance)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Integration Tests: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End-to-end workflow, I/O handling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object 12"/>
          <p:cNvSpPr/>
          <p:nvPr/>
        </p:nvSpPr>
        <p:spPr>
          <a:xfrm>
            <a:off x="1356840" y="2896200"/>
            <a:ext cx="394380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Edge Cases: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Empty inputs, single elements, boundary values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Performance Tests: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Large dataset stress tests, memory usage tests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object 13"/>
          <p:cNvSpPr/>
          <p:nvPr/>
        </p:nvSpPr>
        <p:spPr>
          <a:xfrm>
            <a:off x="899640" y="3440520"/>
            <a:ext cx="10065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Test Coverage: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object 14"/>
          <p:cNvSpPr/>
          <p:nvPr/>
        </p:nvSpPr>
        <p:spPr>
          <a:xfrm>
            <a:off x="899640" y="3712320"/>
            <a:ext cx="5668200" cy="5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===============================================================================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 marL="2094840"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PROJECT TEST SUITE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===============================================================================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[UNIT] Data Structures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object 15"/>
          <p:cNvSpPr/>
          <p:nvPr/>
        </p:nvSpPr>
        <p:spPr>
          <a:xfrm>
            <a:off x="1039320" y="4307400"/>
            <a:ext cx="207216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29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- LinkedList: 15 tests 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29"/>
              </a:lnSpc>
              <a:spcBef>
                <a:spcPts val="51"/>
              </a:spcBef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- Trie: 20 tests 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29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- EditDistance: 12 tests 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object 16"/>
          <p:cNvSpPr/>
          <p:nvPr/>
        </p:nvSpPr>
        <p:spPr>
          <a:xfrm>
            <a:off x="899640" y="4962600"/>
            <a:ext cx="10598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[INTEGRATION]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object 17"/>
          <p:cNvSpPr/>
          <p:nvPr/>
        </p:nvSpPr>
        <p:spPr>
          <a:xfrm>
            <a:off x="1039320" y="5111640"/>
            <a:ext cx="172296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29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- Workflow: 8 tests 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29"/>
              </a:lnSpc>
              <a:spcBef>
                <a:spcPts val="51"/>
              </a:spcBef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- I/O: 5 tests 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object 18"/>
          <p:cNvSpPr/>
          <p:nvPr/>
        </p:nvSpPr>
        <p:spPr>
          <a:xfrm>
            <a:off x="899640" y="5598000"/>
            <a:ext cx="9900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[EDGE CASES]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object 19"/>
          <p:cNvSpPr/>
          <p:nvPr/>
        </p:nvSpPr>
        <p:spPr>
          <a:xfrm>
            <a:off x="1039320" y="5746680"/>
            <a:ext cx="158328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29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- Empty: 5 tests 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29"/>
              </a:lnSpc>
              <a:spcBef>
                <a:spcPts val="51"/>
              </a:spcBef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- Single: 5 tests 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29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- Limits: 6 tests 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object 20"/>
          <p:cNvSpPr/>
          <p:nvPr/>
        </p:nvSpPr>
        <p:spPr>
          <a:xfrm>
            <a:off x="899640" y="6402240"/>
            <a:ext cx="10598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[PERFORMANCE]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object 21"/>
          <p:cNvSpPr/>
          <p:nvPr/>
        </p:nvSpPr>
        <p:spPr>
          <a:xfrm>
            <a:off x="1039320" y="6550920"/>
            <a:ext cx="200232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29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- Stress tests: 3 tests 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29"/>
              </a:lnSpc>
              <a:spcBef>
                <a:spcPts val="51"/>
              </a:spcBef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- Memory tests: 4 tests 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object 22"/>
          <p:cNvSpPr/>
          <p:nvPr/>
        </p:nvSpPr>
        <p:spPr>
          <a:xfrm>
            <a:off x="899640" y="7037640"/>
            <a:ext cx="37828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SUMMARY: 147/147 tests passed | 0 failed | 0 skipped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object 23"/>
          <p:cNvSpPr/>
          <p:nvPr/>
        </p:nvSpPr>
        <p:spPr>
          <a:xfrm>
            <a:off x="899640" y="7287840"/>
            <a:ext cx="11383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Memory Testing: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object 24"/>
          <p:cNvSpPr/>
          <p:nvPr/>
        </p:nvSpPr>
        <p:spPr>
          <a:xfrm>
            <a:off x="1128240" y="757656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object 25"/>
          <p:cNvSpPr/>
          <p:nvPr/>
        </p:nvSpPr>
        <p:spPr>
          <a:xfrm>
            <a:off x="1356840" y="7560000"/>
            <a:ext cx="222408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Memory tests included; Valgrind target available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All pointers properly deallocated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799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RAII principles followed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object 1"/>
          <p:cNvSpPr/>
          <p:nvPr/>
        </p:nvSpPr>
        <p:spPr>
          <a:xfrm>
            <a:off x="899640" y="7338960"/>
            <a:ext cx="5972400" cy="187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object 2"/>
          <p:cNvSpPr/>
          <p:nvPr/>
        </p:nvSpPr>
        <p:spPr>
          <a:xfrm>
            <a:off x="1109880" y="8399160"/>
            <a:ext cx="5780520" cy="1483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object 4"/>
          <p:cNvSpPr/>
          <p:nvPr/>
        </p:nvSpPr>
        <p:spPr>
          <a:xfrm>
            <a:off x="899640" y="905760"/>
            <a:ext cx="29098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565"/>
              </a:lnSpc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Slide 13: Challenges and Solutions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object 5"/>
          <p:cNvSpPr/>
          <p:nvPr/>
        </p:nvSpPr>
        <p:spPr>
          <a:xfrm>
            <a:off x="899640" y="1262160"/>
            <a:ext cx="276732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Challenge 1: Efficient Fuzzy Search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object 6"/>
          <p:cNvSpPr/>
          <p:nvPr/>
        </p:nvSpPr>
        <p:spPr>
          <a:xfrm>
            <a:off x="899640" y="1484640"/>
            <a:ext cx="46209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Problem: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How to find words within edit distance k without checking all words?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object 7"/>
          <p:cNvSpPr/>
          <p:nvPr/>
        </p:nvSpPr>
        <p:spPr>
          <a:xfrm>
            <a:off x="899640" y="1756800"/>
            <a:ext cx="6739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Solution: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object 8"/>
          <p:cNvSpPr/>
          <p:nvPr/>
        </p:nvSpPr>
        <p:spPr>
          <a:xfrm>
            <a:off x="1128240" y="204552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object 9"/>
          <p:cNvSpPr/>
          <p:nvPr/>
        </p:nvSpPr>
        <p:spPr>
          <a:xfrm>
            <a:off x="1356840" y="2028960"/>
            <a:ext cx="24195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Trie-guided search with DP row tracking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object 10"/>
          <p:cNvSpPr/>
          <p:nvPr/>
        </p:nvSpPr>
        <p:spPr>
          <a:xfrm>
            <a:off x="1356840" y="2301120"/>
            <a:ext cx="368388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Pruning branches where minimum distance exceeds threshold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Result: O(α</a:t>
            </a:r>
            <a:r>
              <a:rPr b="0" lang="tr-TR" sz="1100" spc="-2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× k × |prefixes|) instead of O(N × m×n)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object 11"/>
          <p:cNvSpPr/>
          <p:nvPr/>
        </p:nvSpPr>
        <p:spPr>
          <a:xfrm>
            <a:off x="899640" y="2901600"/>
            <a:ext cx="3345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Challenge 2: Pointer-Based Implementation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object 12"/>
          <p:cNvSpPr/>
          <p:nvPr/>
        </p:nvSpPr>
        <p:spPr>
          <a:xfrm>
            <a:off x="899640" y="3124080"/>
            <a:ext cx="34372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Problem: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Course requires pointer-based, no array storage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object 13"/>
          <p:cNvSpPr/>
          <p:nvPr/>
        </p:nvSpPr>
        <p:spPr>
          <a:xfrm>
            <a:off x="899640" y="3396240"/>
            <a:ext cx="6739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Solution: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object 14"/>
          <p:cNvSpPr/>
          <p:nvPr/>
        </p:nvSpPr>
        <p:spPr>
          <a:xfrm>
            <a:off x="1128240" y="368496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object 15"/>
          <p:cNvSpPr/>
          <p:nvPr/>
        </p:nvSpPr>
        <p:spPr>
          <a:xfrm>
            <a:off x="1356840" y="3668400"/>
            <a:ext cx="326952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LinkedList for Trie children (dynamic, pointer-based)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Manual memory management with careful destructors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799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Rule of Five: Copy operations deleted (not needed)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object 16"/>
          <p:cNvSpPr/>
          <p:nvPr/>
        </p:nvSpPr>
        <p:spPr>
          <a:xfrm>
            <a:off x="899640" y="4541040"/>
            <a:ext cx="26852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Challenge 3: Ranking Suggestions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object 17"/>
          <p:cNvSpPr/>
          <p:nvPr/>
        </p:nvSpPr>
        <p:spPr>
          <a:xfrm>
            <a:off x="899640" y="4763520"/>
            <a:ext cx="35179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Problem: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How to rank suggestions (distance vs frequency)?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object 18"/>
          <p:cNvSpPr/>
          <p:nvPr/>
        </p:nvSpPr>
        <p:spPr>
          <a:xfrm>
            <a:off x="899640" y="5035680"/>
            <a:ext cx="6739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Solution: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object 19"/>
          <p:cNvSpPr/>
          <p:nvPr/>
        </p:nvSpPr>
        <p:spPr>
          <a:xfrm>
            <a:off x="1128240" y="532440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object 20"/>
          <p:cNvSpPr/>
          <p:nvPr/>
        </p:nvSpPr>
        <p:spPr>
          <a:xfrm>
            <a:off x="1356840" y="5307840"/>
            <a:ext cx="340236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Two-level sorting: Primary distance, secondary frequency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Fixed-size buffer maintains top-k efficiently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799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Insertion sort for O(k) complexity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object 21"/>
          <p:cNvSpPr/>
          <p:nvPr/>
        </p:nvSpPr>
        <p:spPr>
          <a:xfrm>
            <a:off x="899640" y="6180480"/>
            <a:ext cx="14644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Lessons Learned: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object 22"/>
          <p:cNvSpPr/>
          <p:nvPr/>
        </p:nvSpPr>
        <p:spPr>
          <a:xfrm>
            <a:off x="1128240" y="641952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object 23"/>
          <p:cNvSpPr/>
          <p:nvPr/>
        </p:nvSpPr>
        <p:spPr>
          <a:xfrm>
            <a:off x="1356840" y="6402960"/>
            <a:ext cx="29354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Early pruning significantly improves performance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object 24"/>
          <p:cNvSpPr/>
          <p:nvPr/>
        </p:nvSpPr>
        <p:spPr>
          <a:xfrm>
            <a:off x="1356840" y="6675120"/>
            <a:ext cx="364716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Custom data structures require careful memory management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Trade-offs: Fixed buffer vs. dynamic allocation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object 25"/>
          <p:cNvSpPr/>
          <p:nvPr/>
        </p:nvSpPr>
        <p:spPr>
          <a:xfrm>
            <a:off x="899640" y="7548120"/>
            <a:ext cx="17431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565"/>
              </a:lnSpc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Slide 14: Live Demo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object 26"/>
          <p:cNvSpPr/>
          <p:nvPr/>
        </p:nvSpPr>
        <p:spPr>
          <a:xfrm>
            <a:off x="899640" y="7904520"/>
            <a:ext cx="9867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Demo Flow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object 27"/>
          <p:cNvSpPr/>
          <p:nvPr/>
        </p:nvSpPr>
        <p:spPr>
          <a:xfrm>
            <a:off x="1128240" y="8127000"/>
            <a:ext cx="12888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1.</a:t>
            </a:r>
            <a:r>
              <a:rPr b="0" lang="tr-TR" sz="1100" spc="7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Load Dictionary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object 28"/>
          <p:cNvSpPr/>
          <p:nvPr/>
        </p:nvSpPr>
        <p:spPr>
          <a:xfrm>
            <a:off x="1356840" y="8399160"/>
            <a:ext cx="25261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./spellcheck data/input_large.json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object 29"/>
          <p:cNvSpPr/>
          <p:nvPr/>
        </p:nvSpPr>
        <p:spPr>
          <a:xfrm>
            <a:off x="1585440" y="8666280"/>
            <a:ext cx="23580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object 30"/>
          <p:cNvSpPr/>
          <p:nvPr/>
        </p:nvSpPr>
        <p:spPr>
          <a:xfrm>
            <a:off x="1814040" y="8649360"/>
            <a:ext cx="28357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Uses input_large.json and generated stress data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object 31"/>
          <p:cNvSpPr/>
          <p:nvPr/>
        </p:nvSpPr>
        <p:spPr>
          <a:xfrm>
            <a:off x="1128240" y="8921520"/>
            <a:ext cx="16725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2.</a:t>
            </a:r>
            <a:r>
              <a:rPr b="0" lang="tr-TR" sz="1100" spc="7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CLI Batch Processing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object 1"/>
          <p:cNvSpPr/>
          <p:nvPr/>
        </p:nvSpPr>
        <p:spPr>
          <a:xfrm>
            <a:off x="899640" y="6896520"/>
            <a:ext cx="5972400" cy="187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object 2"/>
          <p:cNvSpPr/>
          <p:nvPr/>
        </p:nvSpPr>
        <p:spPr>
          <a:xfrm>
            <a:off x="881280" y="5783040"/>
            <a:ext cx="6009120" cy="8917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object 3"/>
          <p:cNvSpPr/>
          <p:nvPr/>
        </p:nvSpPr>
        <p:spPr>
          <a:xfrm>
            <a:off x="1109880" y="3076920"/>
            <a:ext cx="5780520" cy="1483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object 5"/>
          <p:cNvSpPr/>
          <p:nvPr/>
        </p:nvSpPr>
        <p:spPr>
          <a:xfrm>
            <a:off x="1585440" y="91656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object 6"/>
          <p:cNvSpPr/>
          <p:nvPr/>
        </p:nvSpPr>
        <p:spPr>
          <a:xfrm>
            <a:off x="1814040" y="899640"/>
            <a:ext cx="225072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Process words from input file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Show correct/incorrect identification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799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Display ranked suggestions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object 7"/>
          <p:cNvSpPr/>
          <p:nvPr/>
        </p:nvSpPr>
        <p:spPr>
          <a:xfrm>
            <a:off x="1128240" y="1716120"/>
            <a:ext cx="16981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3.</a:t>
            </a:r>
            <a:r>
              <a:rPr b="0" lang="tr-TR" sz="1100" spc="7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CLI Interactive Fallback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object 8"/>
          <p:cNvSpPr/>
          <p:nvPr/>
        </p:nvSpPr>
        <p:spPr>
          <a:xfrm>
            <a:off x="1585440" y="200520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object 9"/>
          <p:cNvSpPr/>
          <p:nvPr/>
        </p:nvSpPr>
        <p:spPr>
          <a:xfrm>
            <a:off x="1814040" y="1988280"/>
            <a:ext cx="11905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User enters words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object 10"/>
          <p:cNvSpPr/>
          <p:nvPr/>
        </p:nvSpPr>
        <p:spPr>
          <a:xfrm>
            <a:off x="1814040" y="2260440"/>
            <a:ext cx="182016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Real-time suggestions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Show distance and frequency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object 11"/>
          <p:cNvSpPr/>
          <p:nvPr/>
        </p:nvSpPr>
        <p:spPr>
          <a:xfrm>
            <a:off x="1128240" y="2804760"/>
            <a:ext cx="9766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4.</a:t>
            </a:r>
            <a:r>
              <a:rPr b="0" lang="tr-TR" sz="1100" spc="7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GUI Demo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object 12"/>
          <p:cNvSpPr/>
          <p:nvPr/>
        </p:nvSpPr>
        <p:spPr>
          <a:xfrm>
            <a:off x="1356840" y="3076920"/>
            <a:ext cx="2246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./frontend/gui/build/spell_gui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object 13"/>
          <p:cNvSpPr/>
          <p:nvPr/>
        </p:nvSpPr>
        <p:spPr>
          <a:xfrm>
            <a:off x="1585440" y="334404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object 14"/>
          <p:cNvSpPr/>
          <p:nvPr/>
        </p:nvSpPr>
        <p:spPr>
          <a:xfrm>
            <a:off x="1814040" y="3327120"/>
            <a:ext cx="202032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Type text, see real-time checking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Click suggestions to replace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object 15"/>
          <p:cNvSpPr/>
          <p:nvPr/>
        </p:nvSpPr>
        <p:spPr>
          <a:xfrm>
            <a:off x="1814040" y="3871440"/>
            <a:ext cx="22914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Status shows "correct" or suggestions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object 16"/>
          <p:cNvSpPr/>
          <p:nvPr/>
        </p:nvSpPr>
        <p:spPr>
          <a:xfrm>
            <a:off x="1128240" y="4143600"/>
            <a:ext cx="18651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5.</a:t>
            </a:r>
            <a:r>
              <a:rPr b="0" lang="tr-TR" sz="1100" spc="7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Key Features Highlighted: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object 17"/>
          <p:cNvSpPr/>
          <p:nvPr/>
        </p:nvSpPr>
        <p:spPr>
          <a:xfrm>
            <a:off x="1585440" y="4432320"/>
            <a:ext cx="235800" cy="9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object 18"/>
          <p:cNvSpPr/>
          <p:nvPr/>
        </p:nvSpPr>
        <p:spPr>
          <a:xfrm>
            <a:off x="1814040" y="4415760"/>
            <a:ext cx="11404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Fast lookup (Trie)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object 19"/>
          <p:cNvSpPr/>
          <p:nvPr/>
        </p:nvSpPr>
        <p:spPr>
          <a:xfrm>
            <a:off x="1814040" y="4687920"/>
            <a:ext cx="227736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Accurate suggestions (Edit distance)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Smart ranking (Distance + Frequency)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799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Modern GUI with autocomplete buttons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object 20"/>
          <p:cNvSpPr/>
          <p:nvPr/>
        </p:nvSpPr>
        <p:spPr>
          <a:xfrm>
            <a:off x="899640" y="5560560"/>
            <a:ext cx="142776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Expected Output: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object 21"/>
          <p:cNvSpPr/>
          <p:nvPr/>
        </p:nvSpPr>
        <p:spPr>
          <a:xfrm>
            <a:off x="899640" y="5783040"/>
            <a:ext cx="5598360" cy="89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=== Batch Check ===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hello is correct.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helo -&gt; hello (dist=1, freq=30000)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wrold -&gt; world (dist=1, freq=40000)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thier -&gt; their (dist=1, freq=50000), there (dist=1, freq=45000), they (dist=2,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171"/>
              </a:lnSpc>
            </a:pPr>
            <a:r>
              <a:rPr b="0" lang="tr-TR" sz="1000" spc="-1" strike="noStrike">
                <a:solidFill>
                  <a:srgbClr val="000000"/>
                </a:solidFill>
                <a:latin typeface="Consolas"/>
              </a:rPr>
              <a:t>freq=60000)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object 22"/>
          <p:cNvSpPr/>
          <p:nvPr/>
        </p:nvSpPr>
        <p:spPr>
          <a:xfrm>
            <a:off x="899640" y="7105680"/>
            <a:ext cx="28994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565"/>
              </a:lnSpc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Slide 15: Results and Performance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object 23"/>
          <p:cNvSpPr/>
          <p:nvPr/>
        </p:nvSpPr>
        <p:spPr>
          <a:xfrm>
            <a:off x="899640" y="7462080"/>
            <a:ext cx="16750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Performance Metrics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object 24"/>
          <p:cNvSpPr/>
          <p:nvPr/>
        </p:nvSpPr>
        <p:spPr>
          <a:xfrm>
            <a:off x="899640" y="7684560"/>
            <a:ext cx="14677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Dictionary Operations: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object 25"/>
          <p:cNvSpPr/>
          <p:nvPr/>
        </p:nvSpPr>
        <p:spPr>
          <a:xfrm>
            <a:off x="1128240" y="797328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object 26"/>
          <p:cNvSpPr/>
          <p:nvPr/>
        </p:nvSpPr>
        <p:spPr>
          <a:xfrm>
            <a:off x="1356840" y="7956720"/>
            <a:ext cx="13402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Insert: O(k) per word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object 27"/>
          <p:cNvSpPr/>
          <p:nvPr/>
        </p:nvSpPr>
        <p:spPr>
          <a:xfrm>
            <a:off x="1356840" y="8228880"/>
            <a:ext cx="14284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Lookup: O(k) per word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object 28"/>
          <p:cNvSpPr/>
          <p:nvPr/>
        </p:nvSpPr>
        <p:spPr>
          <a:xfrm>
            <a:off x="1356840" y="8501040"/>
            <a:ext cx="19785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Memory: Efficient prefix sharing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object 29"/>
          <p:cNvSpPr/>
          <p:nvPr/>
        </p:nvSpPr>
        <p:spPr>
          <a:xfrm>
            <a:off x="899640" y="8773200"/>
            <a:ext cx="9270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Fuzzy Search: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object 1"/>
          <p:cNvSpPr/>
          <p:nvPr/>
        </p:nvSpPr>
        <p:spPr>
          <a:xfrm>
            <a:off x="899640" y="4942440"/>
            <a:ext cx="5972400" cy="187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object 3"/>
          <p:cNvSpPr/>
          <p:nvPr/>
        </p:nvSpPr>
        <p:spPr>
          <a:xfrm>
            <a:off x="1128240" y="91656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object 4"/>
          <p:cNvSpPr/>
          <p:nvPr/>
        </p:nvSpPr>
        <p:spPr>
          <a:xfrm>
            <a:off x="1356840" y="899640"/>
            <a:ext cx="16675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Time: O(α</a:t>
            </a:r>
            <a:r>
              <a:rPr b="0" lang="tr-TR" sz="1100" spc="-2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× k × |prefixes|)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object 5"/>
          <p:cNvSpPr/>
          <p:nvPr/>
        </p:nvSpPr>
        <p:spPr>
          <a:xfrm>
            <a:off x="1356840" y="1171800"/>
            <a:ext cx="278820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Space: O(k × target_length) per recursion level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Pruning: Reduces search space significantly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object 6"/>
          <p:cNvSpPr/>
          <p:nvPr/>
        </p:nvSpPr>
        <p:spPr>
          <a:xfrm>
            <a:off x="899640" y="1716120"/>
            <a:ext cx="8838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Test Results: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object 7"/>
          <p:cNvSpPr/>
          <p:nvPr/>
        </p:nvSpPr>
        <p:spPr>
          <a:xfrm>
            <a:off x="1128240" y="2022840"/>
            <a:ext cx="235800" cy="16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108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108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108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108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108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object 8"/>
          <p:cNvSpPr/>
          <p:nvPr/>
        </p:nvSpPr>
        <p:spPr>
          <a:xfrm>
            <a:off x="1356840" y="1988280"/>
            <a:ext cx="255564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63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147/147 tests passed (100% pass rate)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object 9"/>
          <p:cNvSpPr/>
          <p:nvPr/>
        </p:nvSpPr>
        <p:spPr>
          <a:xfrm>
            <a:off x="1356840" y="2278080"/>
            <a:ext cx="241776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63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No memory leaks (Valgrind verified)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object 10"/>
          <p:cNvSpPr/>
          <p:nvPr/>
        </p:nvSpPr>
        <p:spPr>
          <a:xfrm>
            <a:off x="1356840" y="2568240"/>
            <a:ext cx="3437640" cy="104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63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Handles 10,000-node synthetic stress tests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463"/>
              </a:lnSpc>
              <a:spcBef>
                <a:spcPts val="748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Fast response time (&lt; 0.01s for typical queries)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463"/>
              </a:lnSpc>
              <a:spcBef>
                <a:spcPts val="799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Trie search designed for 100K+ dictionary challenge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463"/>
              </a:lnSpc>
              <a:spcBef>
                <a:spcPts val="799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Performance tests included (stress and memory tests)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object 11"/>
          <p:cNvSpPr/>
          <p:nvPr/>
        </p:nvSpPr>
        <p:spPr>
          <a:xfrm>
            <a:off x="899640" y="3783600"/>
            <a:ext cx="98712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Limitations: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object 12"/>
          <p:cNvSpPr/>
          <p:nvPr/>
        </p:nvSpPr>
        <p:spPr>
          <a:xfrm>
            <a:off x="1128240" y="4023000"/>
            <a:ext cx="2358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object 13"/>
          <p:cNvSpPr/>
          <p:nvPr/>
        </p:nvSpPr>
        <p:spPr>
          <a:xfrm>
            <a:off x="1356840" y="4006440"/>
            <a:ext cx="30236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No transposition operation (standard Levenshtein)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object 14"/>
          <p:cNvSpPr/>
          <p:nvPr/>
        </p:nvSpPr>
        <p:spPr>
          <a:xfrm>
            <a:off x="1356840" y="4278240"/>
            <a:ext cx="204948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Single-threaded (no concurrency)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Fixed buffer size for suggestions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object 15"/>
          <p:cNvSpPr/>
          <p:nvPr/>
        </p:nvSpPr>
        <p:spPr>
          <a:xfrm>
            <a:off x="899640" y="5151600"/>
            <a:ext cx="17730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565"/>
              </a:lnSpc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Slide 16: Conclusion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object 16"/>
          <p:cNvSpPr/>
          <p:nvPr/>
        </p:nvSpPr>
        <p:spPr>
          <a:xfrm>
            <a:off x="899640" y="5508000"/>
            <a:ext cx="17488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Project Achievements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object 17"/>
          <p:cNvSpPr/>
          <p:nvPr/>
        </p:nvSpPr>
        <p:spPr>
          <a:xfrm>
            <a:off x="899640" y="5730480"/>
            <a:ext cx="17899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63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Custom Data Structures: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object 18"/>
          <p:cNvSpPr/>
          <p:nvPr/>
        </p:nvSpPr>
        <p:spPr>
          <a:xfrm>
            <a:off x="1128240" y="6036840"/>
            <a:ext cx="2358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object 19"/>
          <p:cNvSpPr/>
          <p:nvPr/>
        </p:nvSpPr>
        <p:spPr>
          <a:xfrm>
            <a:off x="1356840" y="6020280"/>
            <a:ext cx="30092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Trie (prefix tree) with LinkedList children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Pointer-based implementation (no STL containers)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object 20"/>
          <p:cNvSpPr/>
          <p:nvPr/>
        </p:nvSpPr>
        <p:spPr>
          <a:xfrm>
            <a:off x="899640" y="6564600"/>
            <a:ext cx="155988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63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Efficient Algorithms: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object 21"/>
          <p:cNvSpPr/>
          <p:nvPr/>
        </p:nvSpPr>
        <p:spPr>
          <a:xfrm>
            <a:off x="1128240" y="6871320"/>
            <a:ext cx="2358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object 22"/>
          <p:cNvSpPr/>
          <p:nvPr/>
        </p:nvSpPr>
        <p:spPr>
          <a:xfrm>
            <a:off x="1356840" y="6854400"/>
            <a:ext cx="26456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Levenshtein distance with early termination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Trie-guided fuzzy search with pruning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object 23"/>
          <p:cNvSpPr/>
          <p:nvPr/>
        </p:nvSpPr>
        <p:spPr>
          <a:xfrm>
            <a:off x="899640" y="7398720"/>
            <a:ext cx="142704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63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Complete System: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object 24"/>
          <p:cNvSpPr/>
          <p:nvPr/>
        </p:nvSpPr>
        <p:spPr>
          <a:xfrm>
            <a:off x="1128240" y="7705440"/>
            <a:ext cx="23580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object 25"/>
          <p:cNvSpPr/>
          <p:nvPr/>
        </p:nvSpPr>
        <p:spPr>
          <a:xfrm>
            <a:off x="1356840" y="7688520"/>
            <a:ext cx="19213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Spell checking, correction, and autocomplete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object 26"/>
          <p:cNvSpPr/>
          <p:nvPr/>
        </p:nvSpPr>
        <p:spPr>
          <a:xfrm>
            <a:off x="1356840" y="7960680"/>
            <a:ext cx="16570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Required Qt6 GUI interface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object 27"/>
          <p:cNvSpPr/>
          <p:nvPr/>
        </p:nvSpPr>
        <p:spPr>
          <a:xfrm>
            <a:off x="1356840" y="8232840"/>
            <a:ext cx="17229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Modern GUI with autocomplete buttons (Qt6)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object 28"/>
          <p:cNvSpPr/>
          <p:nvPr/>
        </p:nvSpPr>
        <p:spPr>
          <a:xfrm>
            <a:off x="1356840" y="8505000"/>
            <a:ext cx="456696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Comprehensive testing (147 tests: unit, integration, edge cases, performance)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Stress-tested with 10K synthetic words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object 1"/>
          <p:cNvSpPr/>
          <p:nvPr/>
        </p:nvSpPr>
        <p:spPr>
          <a:xfrm>
            <a:off x="899640" y="4588200"/>
            <a:ext cx="5972400" cy="187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object 2"/>
          <p:cNvSpPr/>
          <p:nvPr/>
        </p:nvSpPr>
        <p:spPr>
          <a:xfrm>
            <a:off x="0" y="0"/>
            <a:ext cx="12240" cy="122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object 4"/>
          <p:cNvSpPr/>
          <p:nvPr/>
        </p:nvSpPr>
        <p:spPr>
          <a:xfrm>
            <a:off x="899640" y="899640"/>
            <a:ext cx="167688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63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Segoe UI Emoji"/>
              </a:rPr>
              <a:t>⭐</a:t>
            </a:r>
            <a:r>
              <a:rPr b="0" lang="tr-TR" sz="11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Professional Practices: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object 5"/>
          <p:cNvSpPr/>
          <p:nvPr/>
        </p:nvSpPr>
        <p:spPr>
          <a:xfrm>
            <a:off x="1128240" y="1206360"/>
            <a:ext cx="23580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object 6"/>
          <p:cNvSpPr/>
          <p:nvPr/>
        </p:nvSpPr>
        <p:spPr>
          <a:xfrm>
            <a:off x="1356840" y="1189800"/>
            <a:ext cx="15494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Doxygen documentation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object 7"/>
          <p:cNvSpPr/>
          <p:nvPr/>
        </p:nvSpPr>
        <p:spPr>
          <a:xfrm>
            <a:off x="1356840" y="1461960"/>
            <a:ext cx="348732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Modular code organization (data_structures/, core/, utils/)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Makefile + CMake build system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object 8"/>
          <p:cNvSpPr/>
          <p:nvPr/>
        </p:nvSpPr>
        <p:spPr>
          <a:xfrm>
            <a:off x="1356840" y="2005920"/>
            <a:ext cx="326880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Proper project structure (PDF requirements compliant)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Code formatting (clang-format)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object 9"/>
          <p:cNvSpPr/>
          <p:nvPr/>
        </p:nvSpPr>
        <p:spPr>
          <a:xfrm>
            <a:off x="899640" y="2606400"/>
            <a:ext cx="17668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Future Improvements: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object 10"/>
          <p:cNvSpPr/>
          <p:nvPr/>
        </p:nvSpPr>
        <p:spPr>
          <a:xfrm>
            <a:off x="1128240" y="2845800"/>
            <a:ext cx="235800" cy="9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896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-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object 11"/>
          <p:cNvSpPr/>
          <p:nvPr/>
        </p:nvSpPr>
        <p:spPr>
          <a:xfrm>
            <a:off x="1356840" y="2829240"/>
            <a:ext cx="31172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Add transposition operation (Damerau-Levenshtein)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object 12"/>
          <p:cNvSpPr/>
          <p:nvPr/>
        </p:nvSpPr>
        <p:spPr>
          <a:xfrm>
            <a:off x="1356840" y="3101400"/>
            <a:ext cx="19047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Support for multiple languages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object 13"/>
          <p:cNvSpPr/>
          <p:nvPr/>
        </p:nvSpPr>
        <p:spPr>
          <a:xfrm>
            <a:off x="1356840" y="3373200"/>
            <a:ext cx="26348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Concurrent processing for large dictionaries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Dictionary learning from user corrections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object 16"/>
          <p:cNvSpPr/>
          <p:nvPr/>
        </p:nvSpPr>
        <p:spPr>
          <a:xfrm>
            <a:off x="899640" y="4797360"/>
            <a:ext cx="33343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565"/>
              </a:lnSpc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Slide 17: Technical Diagrams Reference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object 17"/>
          <p:cNvSpPr/>
          <p:nvPr/>
        </p:nvSpPr>
        <p:spPr>
          <a:xfrm>
            <a:off x="899640" y="5153760"/>
            <a:ext cx="166608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51"/>
              </a:lnSpc>
            </a:pPr>
            <a:r>
              <a:rPr b="0" lang="tr-TR" sz="1300" spc="-1" strike="noStrike">
                <a:solidFill>
                  <a:srgbClr val="000000"/>
                </a:solidFill>
                <a:latin typeface="Arial"/>
              </a:rPr>
              <a:t>Diagrams to Include: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object 18"/>
          <p:cNvSpPr/>
          <p:nvPr/>
        </p:nvSpPr>
        <p:spPr>
          <a:xfrm>
            <a:off x="1128240" y="5376240"/>
            <a:ext cx="35002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1.</a:t>
            </a:r>
            <a:r>
              <a:rPr b="0" lang="tr-TR" sz="1100" spc="7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Class Diagram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(from </a:t>
            </a:r>
            <a:r>
              <a:rPr b="0" lang="tr-TR" sz="1000" spc="-1" strike="noStrike">
                <a:solidFill>
                  <a:srgbClr val="c7254e"/>
                </a:solidFill>
                <a:highlight>
                  <a:srgbClr val="f9f2f4"/>
                </a:highlight>
                <a:latin typeface="Consolas"/>
              </a:rPr>
              <a:t>docs/uml/class_diagram.puml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object 19"/>
          <p:cNvSpPr/>
          <p:nvPr/>
        </p:nvSpPr>
        <p:spPr>
          <a:xfrm>
            <a:off x="1585440" y="5664960"/>
            <a:ext cx="2358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object 20"/>
          <p:cNvSpPr/>
          <p:nvPr/>
        </p:nvSpPr>
        <p:spPr>
          <a:xfrm>
            <a:off x="1814040" y="5648400"/>
            <a:ext cx="20570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Show all classes and relationships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object 21"/>
          <p:cNvSpPr/>
          <p:nvPr/>
        </p:nvSpPr>
        <p:spPr>
          <a:xfrm>
            <a:off x="1814040" y="5920560"/>
            <a:ext cx="27698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Include inheritance, composition, associations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object 22"/>
          <p:cNvSpPr/>
          <p:nvPr/>
        </p:nvSpPr>
        <p:spPr>
          <a:xfrm>
            <a:off x="1128240" y="6192720"/>
            <a:ext cx="39816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2.</a:t>
            </a:r>
            <a:r>
              <a:rPr b="0" lang="tr-TR" sz="1100" spc="7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Sequence Diagram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(from </a:t>
            </a:r>
            <a:r>
              <a:rPr b="0" lang="tr-TR" sz="1000" spc="-1" strike="noStrike">
                <a:solidFill>
                  <a:srgbClr val="c7254e"/>
                </a:solidFill>
                <a:highlight>
                  <a:srgbClr val="f9f2f4"/>
                </a:highlight>
                <a:latin typeface="Consolas"/>
              </a:rPr>
              <a:t>docs/uml/sequence_diagram.puml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object 23"/>
          <p:cNvSpPr/>
          <p:nvPr/>
        </p:nvSpPr>
        <p:spPr>
          <a:xfrm>
            <a:off x="1585440" y="6481440"/>
            <a:ext cx="2358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object 24"/>
          <p:cNvSpPr/>
          <p:nvPr/>
        </p:nvSpPr>
        <p:spPr>
          <a:xfrm>
            <a:off x="1814040" y="6464880"/>
            <a:ext cx="25102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Main workflow: Load →</a:t>
            </a:r>
            <a:r>
              <a:rPr b="0" lang="tr-TR" sz="1100" spc="-2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Check →</a:t>
            </a:r>
            <a:r>
              <a:rPr b="0" lang="tr-TR" sz="1100" spc="-2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Suggest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object 25"/>
          <p:cNvSpPr/>
          <p:nvPr/>
        </p:nvSpPr>
        <p:spPr>
          <a:xfrm>
            <a:off x="1814040" y="6737040"/>
            <a:ext cx="24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Show interactions between components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object 26"/>
          <p:cNvSpPr/>
          <p:nvPr/>
        </p:nvSpPr>
        <p:spPr>
          <a:xfrm>
            <a:off x="1128240" y="7009200"/>
            <a:ext cx="16981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3.</a:t>
            </a:r>
            <a:r>
              <a:rPr b="0" lang="tr-TR" sz="1100" spc="7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Trie Structure Diagram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object 27"/>
          <p:cNvSpPr/>
          <p:nvPr/>
        </p:nvSpPr>
        <p:spPr>
          <a:xfrm>
            <a:off x="1585440" y="7297920"/>
            <a:ext cx="2358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object 28"/>
          <p:cNvSpPr/>
          <p:nvPr/>
        </p:nvSpPr>
        <p:spPr>
          <a:xfrm>
            <a:off x="1814040" y="7281360"/>
            <a:ext cx="241596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Visual representation of Trie nodes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Example: "hello", "help", "world" in Trie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object 29"/>
          <p:cNvSpPr/>
          <p:nvPr/>
        </p:nvSpPr>
        <p:spPr>
          <a:xfrm>
            <a:off x="1128240" y="7825320"/>
            <a:ext cx="14857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4.</a:t>
            </a:r>
            <a:r>
              <a:rPr b="0" lang="tr-TR" sz="1100" spc="7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Data Flow Diagram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object 30"/>
          <p:cNvSpPr/>
          <p:nvPr/>
        </p:nvSpPr>
        <p:spPr>
          <a:xfrm>
            <a:off x="1585440" y="8114400"/>
            <a:ext cx="2358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247"/>
              </a:lnSpc>
              <a:spcBef>
                <a:spcPts val="947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object 31"/>
          <p:cNvSpPr/>
          <p:nvPr/>
        </p:nvSpPr>
        <p:spPr>
          <a:xfrm>
            <a:off x="1814040" y="8097480"/>
            <a:ext cx="2714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Input →</a:t>
            </a:r>
            <a:r>
              <a:rPr b="0" lang="tr-TR" sz="1100" spc="-2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Parser →</a:t>
            </a:r>
            <a:r>
              <a:rPr b="0" lang="tr-TR" sz="1100" spc="-2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Trie →</a:t>
            </a:r>
            <a:r>
              <a:rPr b="0" lang="tr-TR" sz="1100" spc="-2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SpellChecker →</a:t>
            </a:r>
            <a:r>
              <a:rPr b="0" lang="tr-TR" sz="1100" spc="-2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GUI/CLI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341"/>
              </a:lnSpc>
              <a:spcBef>
                <a:spcPts val="850"/>
              </a:spcBef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Show data transformations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object 32"/>
          <p:cNvSpPr/>
          <p:nvPr/>
        </p:nvSpPr>
        <p:spPr>
          <a:xfrm>
            <a:off x="1128240" y="8641800"/>
            <a:ext cx="15717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5.</a:t>
            </a:r>
            <a:r>
              <a:rPr b="0" lang="tr-TR" sz="1100" spc="7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tr-TR" sz="1100" spc="-1" strike="noStrike">
                <a:solidFill>
                  <a:srgbClr val="000000"/>
                </a:solidFill>
                <a:latin typeface="Calibri"/>
              </a:rPr>
              <a:t>Algorithm Flowchart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object 33"/>
          <p:cNvSpPr/>
          <p:nvPr/>
        </p:nvSpPr>
        <p:spPr>
          <a:xfrm>
            <a:off x="1585440" y="8930880"/>
            <a:ext cx="23580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object 34"/>
          <p:cNvSpPr/>
          <p:nvPr/>
        </p:nvSpPr>
        <p:spPr>
          <a:xfrm>
            <a:off x="1814040" y="8913960"/>
            <a:ext cx="1780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Fuzzy search algorithm steps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object 45"/>
          <p:cNvSpPr/>
          <p:nvPr/>
        </p:nvSpPr>
        <p:spPr>
          <a:xfrm>
            <a:off x="1572480" y="9211320"/>
            <a:ext cx="23580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247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ourier New"/>
              </a:rPr>
              <a:t>o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object 46"/>
          <p:cNvSpPr/>
          <p:nvPr/>
        </p:nvSpPr>
        <p:spPr>
          <a:xfrm>
            <a:off x="1801080" y="9211320"/>
            <a:ext cx="20646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41"/>
              </a:lnSpc>
            </a:pPr>
            <a:r>
              <a:rPr b="0" lang="tr-TR" sz="1100" spc="-1" strike="noStrike">
                <a:solidFill>
                  <a:srgbClr val="000000"/>
                </a:solidFill>
                <a:latin typeface="Calibri"/>
              </a:rPr>
              <a:t>Decision points (pruning, ranking)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eme Office">
  <a:themeElements>
    <a:clrScheme name="Standard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PPT_Plus/1.0.0.0$Windows_X86_64 LibreOffice_project/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app</dc:creator>
  <dc:description/>
  <dc:language>tr-TR</dc:language>
  <cp:lastModifiedBy/>
  <dcterms:modified xsi:type="dcterms:W3CDTF">2026-01-09T16:41:20Z</dcterms:modified>
  <cp:revision>2</cp:revision>
  <dc:subject/>
  <dc:title>Presentation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